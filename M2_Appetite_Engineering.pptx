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68912" y="1188720"/>
            <a:ext cx="64008" cy="4114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455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5400" b="1" i="0">
                <a:solidFill>
                  <a:srgbClr val="F0D080"/>
                </a:solidFill>
              </a:rPr>
              <a:t>הנדסת התיאבון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0" i="0">
                <a:solidFill>
                  <a:srgbClr val="FFFFFF"/>
                </a:solidFill>
              </a:rPr>
              <a:t>Appetite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154680"/>
            <a:ext cx="11457432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1">
                <a:solidFill>
                  <a:srgbClr val="8B8B8B"/>
                </a:solidFill>
              </a:rPr>
              <a:t>ניווט שווארמה מבוסס ML — מצא את המקום הטוב ביותר בסביבתך תוך שניות.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5212080"/>
            <a:ext cx="2743200" cy="1325880"/>
          </a:xfrm>
          <a:prstGeom prst="rect">
            <a:avLst/>
          </a:prstGeom>
          <a:solidFill>
            <a:srgbClr val="1A202C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52578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84C"/>
                </a:solidFill>
              </a:rPr>
              <a:t>3:15–4:00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7607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KPI +
צעד הבא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9272" y="5212080"/>
            <a:ext cx="2743200" cy="1325880"/>
          </a:xfrm>
          <a:prstGeom prst="rect">
            <a:avLst/>
          </a:prstGeom>
          <a:solidFill>
            <a:srgbClr val="1A202C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9272" y="52578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84C"/>
                </a:solidFill>
              </a:rPr>
              <a:t>1:45–3:15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9272" y="57607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EDA +
תובנות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2784" y="5212080"/>
            <a:ext cx="2743200" cy="1325880"/>
          </a:xfrm>
          <a:prstGeom prst="rect">
            <a:avLst/>
          </a:prstGeom>
          <a:solidFill>
            <a:srgbClr val="1A202C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4" y="52578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84C"/>
                </a:solidFill>
              </a:rPr>
              <a:t>0:45–1:45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4" y="57607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ספרות
+ שוק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26296" y="5212080"/>
            <a:ext cx="2743200" cy="1325880"/>
          </a:xfrm>
          <a:prstGeom prst="rect">
            <a:avLst/>
          </a:prstGeom>
          <a:solidFill>
            <a:srgbClr val="1A202C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52578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84C"/>
                </a:solidFill>
              </a:rPr>
              <a:t>0:00–0:45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6296" y="57607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בעיה +
הצעת ערך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3796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B8B8B"/>
                </a:solidFill>
              </a:rPr>
              <a:t>גידי הורש ואליאד  ·  קורס שירותים מבוססי מיקום  ·  הטכניון  ·  M2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09760" y="182880"/>
            <a:ext cx="2286000" cy="502920"/>
          </a:xfrm>
          <a:prstGeom prst="rect">
            <a:avLst/>
          </a:prstGeom>
          <a:solidFill>
            <a:srgbClr val="1A202C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84C"/>
                </a:solidFill>
              </a:rPr>
              <a:t>0:00 – 0:45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B8B8B"/>
                </a:solidFill>
              </a:rPr>
              <a:t>חלק 1 מתוך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000" b="1" i="0">
                <a:solidFill>
                  <a:srgbClr val="F0D080"/>
                </a:solidFill>
              </a:rPr>
              <a:t>הבעיה והצעת הערך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27632"/>
            <a:ext cx="11457432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5394960" cy="4480560"/>
          </a:xfrm>
          <a:prstGeom prst="rect">
            <a:avLst/>
          </a:prstGeom>
          <a:solidFill>
            <a:srgbClr val="250808"/>
          </a:solidFill>
          <a:ln w="19050">
            <a:solidFill>
              <a:srgbClr val="E63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E63A46"/>
                </a:solidFill>
              </a:rPr>
              <a:t>❌  הבעיה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5120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FFFFFF"/>
                </a:solidFill>
              </a:rPr>
              <a:t>אתה בעיר. זה שעת הצהריים. בא לך שווארמה.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07792"/>
            <a:ext cx="5120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FFFFFF"/>
                </a:solidFill>
              </a:rPr>
              <a:t>גוגל מפות מחזיר 50+ תוצאות — אין מחיר, אין דירוג אמיתי.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00984"/>
            <a:ext cx="5120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FFFFFF"/>
                </a:solidFill>
              </a:rPr>
              <a:t>אין לך דרך לדעת איזה מקום קרוב וגם טוב.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94176"/>
            <a:ext cx="5120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FFFFFF"/>
                </a:solidFill>
              </a:rPr>
              <a:t>בסוף בוחרים מקום מוכר, משלמים ₪7–11 יותר,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87368"/>
            <a:ext cx="5120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FFFFFF"/>
                </a:solidFill>
              </a:rPr>
              <a:t>ומקבלים חוויה בינונית.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80560"/>
            <a:ext cx="5120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73752"/>
            <a:ext cx="5120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FFFFFF"/>
                </a:solidFill>
              </a:rPr>
              <a:t>מציאת שווארמה איכותית ובמרחק הליכה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266944"/>
            <a:ext cx="5120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FFFFFF"/>
                </a:solidFill>
              </a:rPr>
              <a:t>עם מינימום מאמץ — עדיין לא פתורה.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3749039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9A84C"/>
                </a:solidFill>
              </a:rPr>
              <a:t>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828800"/>
            <a:ext cx="5394960" cy="4480560"/>
          </a:xfrm>
          <a:prstGeom prst="rect">
            <a:avLst/>
          </a:prstGeom>
          <a:solidFill>
            <a:srgbClr val="2A2208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92024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C9A84C"/>
                </a:solidFill>
              </a:rPr>
              <a:t>✅  הצעת הערך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51460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0D080"/>
                </a:solidFill>
              </a:rPr>
              <a:t>לחיצה אחת. השווארמה הטובה ביותר בסביבתך.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20040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FFFFFF"/>
                </a:solidFill>
              </a:rPr>
              <a:t>שווארמה בלבד — ללא רעש של מסעדות כלליות.  :רלוונטי  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639312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FFFFFF"/>
                </a:solidFill>
              </a:rPr>
              <a:t>GPS + דירוג ML תוך פחות מ-3 שניות.  :מהיר  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078224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FFFFFF"/>
                </a:solidFill>
              </a:rPr>
              <a:t>מיון לפי דירוג × מחיר × מרחק משולב.  :איכות  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517136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FFFFFF"/>
                </a:solidFill>
              </a:rPr>
              <a:t>מרחק אמיתי ממיקומך הנוכחי.  :קרוב  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95604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FFFFFF"/>
                </a:solidFill>
              </a:rPr>
              <a:t>ללא פשרות — איכות ומחיר מאוזנים.  :ערך מקסימלי  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09760" y="182880"/>
            <a:ext cx="2286000" cy="502920"/>
          </a:xfrm>
          <a:prstGeom prst="rect">
            <a:avLst/>
          </a:prstGeom>
          <a:solidFill>
            <a:srgbClr val="1A202C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84C"/>
                </a:solidFill>
              </a:rPr>
              <a:t>0:45 – 1:45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B8B8B"/>
                </a:solidFill>
              </a:rPr>
              <a:t>חלק 2 מתוך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000" b="1" i="0">
                <a:solidFill>
                  <a:srgbClr val="F0D080"/>
                </a:solidFill>
              </a:rPr>
              <a:t>סקירת ספרות — מה המחקר אומר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27632"/>
            <a:ext cx="11457432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457200" cy="14173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24028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828800"/>
            <a:ext cx="10954512" cy="1417320"/>
          </a:xfrm>
          <a:prstGeom prst="rect">
            <a:avLst/>
          </a:prstGeom>
          <a:solidFill>
            <a:srgbClr val="1A202C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8745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2A9D8F"/>
                </a:solidFill>
              </a:rPr>
              <a:t>קיים קשר ישיר בין אוכל לרגשות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286000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8B8B8B"/>
                </a:solidFill>
              </a:rPr>
              <a:t>Asani et al. (2021) — מערכת המלצות מסעדות מבוססת ניתוח סנטימנט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4203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</a:rPr>
              <a:t>דירוגי משתמשים ותגובות נושאים אות רגשי חזק. ניקוד מבוסס סנטימנט
מדויק יותר ממספר כוכבים לבדו.
← המודל שלנו משתמש בדירוג כפרוקסי לשביעות רצון אמיתית.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401568"/>
            <a:ext cx="457200" cy="1417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813048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954512" cy="1417320"/>
          </a:xfrm>
          <a:prstGeom prst="rect">
            <a:avLst/>
          </a:prstGeom>
          <a:solidFill>
            <a:srgbClr val="1A202C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44728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C9A84C"/>
                </a:solidFill>
              </a:rPr>
              <a:t>מערכות המלצות מזון טובות — אך לא יעילות לסוגי מזון ספציפיים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58768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8B8B8B"/>
                </a:solidFill>
              </a:rPr>
              <a:t>Bondevik et al. (2024) — סקירה שיטתית של מערכות המלצות מזון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1148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</a:rPr>
              <a:t>64.8% ממערכות ה-FRS משתמשות ב-ML, אך רובן מכוונות לקטגוריות רחבות.
סוגי מזון נישתיים (כמו שווארמה) מקבלים שירות חסר — מערכות כלליות
מדללות את התוצאות בפריטים לא רלוונטיים.
← התמחות בשווארמה נותנת לנו יתרון יחס אות-לרעש.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974336"/>
            <a:ext cx="457200" cy="1417320"/>
          </a:xfrm>
          <a:prstGeom prst="rect">
            <a:avLst/>
          </a:prstGeom>
          <a:solidFill>
            <a:srgbClr val="5B8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5385816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4974336"/>
            <a:ext cx="10954512" cy="1417320"/>
          </a:xfrm>
          <a:prstGeom prst="rect">
            <a:avLst/>
          </a:prstGeom>
          <a:solidFill>
            <a:srgbClr val="1A202C"/>
          </a:solidFill>
          <a:ln w="19050">
            <a:solidFill>
              <a:srgbClr val="5B8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02005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5B8DE0"/>
                </a:solidFill>
              </a:rPr>
              <a:t>מערכות FRS אינן לוקחות בחשבון את העדפות המשתמש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431536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8B8B8B"/>
                </a:solidFill>
              </a:rPr>
              <a:t>Villegas et al. (2018) — מערכות המלצות מודעות הקשר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687568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</a:rPr>
              <a:t>74% ממערכות CARS משתמשות במידול הקשרי אך עדיין מתעלמות ממגבלות
המשתמש בזמן אמת (תקציב, מרחק, רף איכות). פילטרים סטטיים מחמיצים
את האיזון הדינמי שכל משתמש זקוק לו.
← הדירוג שלנו מאחד מחיר + דירוג + מרחק לציון מותאם אחד.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09760" y="182880"/>
            <a:ext cx="2286000" cy="502920"/>
          </a:xfrm>
          <a:prstGeom prst="rect">
            <a:avLst/>
          </a:prstGeom>
          <a:solidFill>
            <a:srgbClr val="1A202C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84C"/>
                </a:solidFill>
              </a:rPr>
              <a:t>0:45 – 1:45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B8B8B"/>
                </a:solidFill>
              </a:rPr>
              <a:t>חלק 2 מתוך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000" b="1" i="0">
                <a:solidFill>
                  <a:srgbClr val="F0D080"/>
                </a:solidFill>
              </a:rPr>
              <a:t>ניתוח שוק ותחרות — היכן אנחנו ממוקמים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27632"/>
            <a:ext cx="11457432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2011680" cy="502920"/>
          </a:xfrm>
          <a:prstGeom prst="rect">
            <a:avLst/>
          </a:prstGeom>
          <a:solidFill>
            <a:srgbClr val="1A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94767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</a:rPr>
              <a:t>פלטפורמה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1920240"/>
            <a:ext cx="1554480" cy="502920"/>
          </a:xfrm>
          <a:prstGeom prst="rect">
            <a:avLst/>
          </a:prstGeom>
          <a:solidFill>
            <a:srgbClr val="1A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3160" y="194767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</a:rPr>
              <a:t>מחיר ₪ מדויק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1920240"/>
            <a:ext cx="1920240" cy="502920"/>
          </a:xfrm>
          <a:prstGeom prst="rect">
            <a:avLst/>
          </a:prstGeom>
          <a:solidFill>
            <a:srgbClr val="1A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40" y="19476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</a:rPr>
              <a:t>ספציפי לשווארמה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1920240"/>
            <a:ext cx="1554480" cy="502920"/>
          </a:xfrm>
          <a:prstGeom prst="rect">
            <a:avLst/>
          </a:prstGeom>
          <a:solidFill>
            <a:srgbClr val="1A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94767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</a:rPr>
              <a:t>GPS בזמן אמת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920240"/>
            <a:ext cx="1554480" cy="502920"/>
          </a:xfrm>
          <a:prstGeom prst="rect">
            <a:avLst/>
          </a:prstGeom>
          <a:solidFill>
            <a:srgbClr val="1A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194767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</a:rPr>
              <a:t>דירוג ML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1920240"/>
            <a:ext cx="2286000" cy="502920"/>
          </a:xfrm>
          <a:prstGeom prst="rect">
            <a:avLst/>
          </a:prstGeom>
          <a:solidFill>
            <a:srgbClr val="1A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19476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</a:rPr>
              <a:t>מייעל עבור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514600"/>
            <a:ext cx="11457432" cy="621792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6060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גוגל מפות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160" y="26060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63A46"/>
                </a:solidFill>
              </a:rP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40" y="2606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✗ (כל המזון)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26060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A9D8F"/>
                </a:solidFill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26060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63A46"/>
                </a:solidFill>
              </a:rPr>
              <a:t>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26060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מעורבות פרסומות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172968"/>
            <a:ext cx="11457432" cy="621792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326440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וולט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326440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A9D8F"/>
                </a:solidFill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40" y="326440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✗ (משלוח)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97880" y="326440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63A46"/>
                </a:solidFill>
              </a:rPr>
              <a:t>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326440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משלוח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326440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עמלת משלוח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831336"/>
            <a:ext cx="11457432" cy="621792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3922776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תן ביס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23160" y="3922776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A9D8F"/>
                </a:solidFill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77640" y="392277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✗ (משלוח)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97880" y="3922776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63A46"/>
                </a:solidFill>
              </a:rPr>
              <a:t>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52360" y="3922776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משלוח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392277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עמלת משלוח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489704"/>
            <a:ext cx="11457432" cy="621792"/>
          </a:xfrm>
          <a:prstGeom prst="rect">
            <a:avLst/>
          </a:prstGeom>
          <a:solidFill>
            <a:srgbClr val="2A2208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4581144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D080"/>
                </a:solidFill>
              </a:rPr>
              <a:t>⭐ הנדסת התיאבון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23160" y="4581144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D080"/>
                </a:solidFill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77640" y="458114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D080"/>
                </a:solidFill>
              </a:rPr>
              <a:t>✓ שווארמה בלבד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97880" y="4581144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D080"/>
                </a:solidFill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52360" y="4581144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D080"/>
                </a:solidFill>
              </a:rPr>
              <a:t>K-Means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06840" y="458114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D080"/>
                </a:solidFill>
              </a:rPr>
              <a:t>ערך למשתמש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5440680"/>
            <a:ext cx="11457432" cy="1051560"/>
          </a:xfrm>
          <a:prstGeom prst="rect">
            <a:avLst/>
          </a:prstGeom>
          <a:solidFill>
            <a:srgbClr val="1A202C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37195628800" y="5532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C9A84C"/>
                </a:solidFill>
              </a:rPr>
              <a:t>:היתרון שלנו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55321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</a:rPr>
              <a:t>הפלטפורמה היחידה המשלבת מחירי ₪ מדויקים + סינון שווארמה בלבד + GPS בזמן אמת + דירוג ML — המכוונת לערך הישראלי של חוויית השווארמה.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09760" y="182880"/>
            <a:ext cx="2286000" cy="502920"/>
          </a:xfrm>
          <a:prstGeom prst="rect">
            <a:avLst/>
          </a:prstGeom>
          <a:solidFill>
            <a:srgbClr val="1A202C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84C"/>
                </a:solidFill>
              </a:rPr>
              <a:t>1:45 – 3:15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B8B8B"/>
                </a:solidFill>
              </a:rPr>
              <a:t>חלק 3 מתוך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000" b="1" i="0">
                <a:solidFill>
                  <a:srgbClr val="F0D080"/>
                </a:solidFill>
              </a:rPr>
              <a:t>ניתוח נתוני EDA — מה הנתונים מראים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27632"/>
            <a:ext cx="11457432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2240280" cy="1143000"/>
          </a:xfrm>
          <a:prstGeom prst="rect">
            <a:avLst/>
          </a:prstGeom>
          <a:solidFill>
            <a:srgbClr val="1A202C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874519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9A84C"/>
                </a:solidFill>
              </a:rPr>
              <a:t>12,270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2316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מסעדות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724912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8B8B"/>
                </a:solidFill>
              </a:rPr>
              <a:t>אחרי ניקוי כפילויות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24912" y="1828800"/>
            <a:ext cx="2240280" cy="1143000"/>
          </a:xfrm>
          <a:prstGeom prst="rect">
            <a:avLst/>
          </a:prstGeom>
          <a:solidFill>
            <a:srgbClr val="1A202C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24912" y="1874519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9A84C"/>
                </a:solidFill>
              </a:rPr>
              <a:t>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4912" y="242316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ערים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24912" y="2724912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8B8B"/>
                </a:solidFill>
              </a:rPr>
              <a:t>ברחבי ישראל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84064" y="1828800"/>
            <a:ext cx="2240280" cy="1143000"/>
          </a:xfrm>
          <a:prstGeom prst="rect">
            <a:avLst/>
          </a:prstGeom>
          <a:solidFill>
            <a:srgbClr val="1A202C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84064" y="1874519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9A84C"/>
                </a:solidFill>
              </a:rPr>
              <a:t>₪46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4064" y="242316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מחיר חציוני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4064" y="2724912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8B8B"/>
                </a:solidFill>
              </a:rPr>
              <a:t>פיתה טורקי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43216" y="1828800"/>
            <a:ext cx="2240280" cy="1143000"/>
          </a:xfrm>
          <a:prstGeom prst="rect">
            <a:avLst/>
          </a:prstGeom>
          <a:solidFill>
            <a:srgbClr val="1A202C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43216" y="1874519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9A84C"/>
                </a:solidFill>
              </a:rPr>
              <a:t>4.32★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43216" y="242316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דירוג ממוצע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3216" y="2724912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8B8B"/>
                </a:solidFill>
              </a:rPr>
              <a:t>בין כל המסעדות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02368" y="1828800"/>
            <a:ext cx="2240280" cy="1143000"/>
          </a:xfrm>
          <a:prstGeom prst="rect">
            <a:avLst/>
          </a:prstGeom>
          <a:solidFill>
            <a:srgbClr val="1A202C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02368" y="1874519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9A84C"/>
                </a:solidFill>
              </a:rPr>
              <a:t>r=−0.06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02368" y="242316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מחיר↔איכות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02368" y="2724912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8B8B"/>
                </a:solidFill>
              </a:rPr>
              <a:t>כמעט אין קורלציה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154680"/>
            <a:ext cx="5029200" cy="3337560"/>
          </a:xfrm>
          <a:prstGeom prst="rect">
            <a:avLst/>
          </a:prstGeom>
          <a:solidFill>
            <a:srgbClr val="1A202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2004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C9A84C"/>
                </a:solidFill>
              </a:rPr>
              <a:t>מחיר מול דירוג — הכאוס (r = −0.06)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3749039"/>
            <a:ext cx="502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8B8B"/>
                </a:solidFill>
              </a:rPr>
              <a:t>דירוג 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62362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8B8B"/>
                </a:solidFill>
              </a:rPr>
              <a:t>← מחיר (₪)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91233" y="3671341"/>
            <a:ext cx="60351" cy="60351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534290" y="3855556"/>
            <a:ext cx="77382" cy="77382"/>
          </a:xfrm>
          <a:prstGeom prst="rect">
            <a:avLst/>
          </a:prstGeom>
          <a:solidFill>
            <a:srgbClr val="D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317855" y="4614973"/>
            <a:ext cx="51381" cy="51381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17473" y="5043143"/>
            <a:ext cx="70820" cy="70820"/>
          </a:xfrm>
          <a:prstGeom prst="rect">
            <a:avLst/>
          </a:prstGeom>
          <a:solidFill>
            <a:srgbClr val="D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34264" y="4907445"/>
            <a:ext cx="58354" cy="58354"/>
          </a:xfrm>
          <a:prstGeom prst="rect">
            <a:avLst/>
          </a:prstGeom>
          <a:solidFill>
            <a:srgbClr val="D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104819" y="5678589"/>
            <a:ext cx="78046" cy="7804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32823" y="4420805"/>
            <a:ext cx="55978" cy="55978"/>
          </a:xfrm>
          <a:prstGeom prst="rect">
            <a:avLst/>
          </a:prstGeom>
          <a:solidFill>
            <a:srgbClr val="E0B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380694" y="4515134"/>
            <a:ext cx="63422" cy="63422"/>
          </a:xfrm>
          <a:prstGeom prst="rect">
            <a:avLst/>
          </a:prstGeom>
          <a:solidFill>
            <a:srgbClr val="E0B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444331" y="5530779"/>
            <a:ext cx="76982" cy="76982"/>
          </a:xfrm>
          <a:prstGeom prst="rect">
            <a:avLst/>
          </a:prstGeom>
          <a:solidFill>
            <a:srgbClr val="D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473754" y="5804581"/>
            <a:ext cx="53174" cy="53174"/>
          </a:xfrm>
          <a:prstGeom prst="rect">
            <a:avLst/>
          </a:prstGeom>
          <a:solidFill>
            <a:srgbClr val="E0B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72954" y="5082373"/>
            <a:ext cx="81809" cy="81809"/>
          </a:xfrm>
          <a:prstGeom prst="rect">
            <a:avLst/>
          </a:prstGeom>
          <a:solidFill>
            <a:srgbClr val="D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751349" y="3777243"/>
            <a:ext cx="74478" cy="74478"/>
          </a:xfrm>
          <a:prstGeom prst="rect">
            <a:avLst/>
          </a:prstGeom>
          <a:solidFill>
            <a:srgbClr val="E0B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14109" y="5645346"/>
            <a:ext cx="81984" cy="81984"/>
          </a:xfrm>
          <a:prstGeom prst="rect">
            <a:avLst/>
          </a:prstGeom>
          <a:solidFill>
            <a:srgbClr val="E0B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103925" y="5123181"/>
            <a:ext cx="63636" cy="63636"/>
          </a:xfrm>
          <a:prstGeom prst="rect">
            <a:avLst/>
          </a:prstGeom>
          <a:solidFill>
            <a:srgbClr val="E0B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421987" y="5205181"/>
            <a:ext cx="75961" cy="75961"/>
          </a:xfrm>
          <a:prstGeom prst="rect">
            <a:avLst/>
          </a:prstGeom>
          <a:solidFill>
            <a:srgbClr val="D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26656" y="5060052"/>
            <a:ext cx="56551" cy="56551"/>
          </a:xfrm>
          <a:prstGeom prst="rect">
            <a:avLst/>
          </a:prstGeom>
          <a:solidFill>
            <a:srgbClr val="D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967467" y="4710875"/>
            <a:ext cx="60165" cy="60165"/>
          </a:xfrm>
          <a:prstGeom prst="rect">
            <a:avLst/>
          </a:prstGeom>
          <a:solidFill>
            <a:srgbClr val="D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791768" y="4134001"/>
            <a:ext cx="62152" cy="62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902607" y="3688196"/>
            <a:ext cx="61830" cy="61830"/>
          </a:xfrm>
          <a:prstGeom prst="rect">
            <a:avLst/>
          </a:prstGeom>
          <a:solidFill>
            <a:srgbClr val="E0B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232472" y="5782806"/>
            <a:ext cx="71037" cy="71037"/>
          </a:xfrm>
          <a:prstGeom prst="rect">
            <a:avLst/>
          </a:prstGeom>
          <a:solidFill>
            <a:srgbClr val="D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254956" y="5170146"/>
            <a:ext cx="64762" cy="64762"/>
          </a:xfrm>
          <a:prstGeom prst="rect">
            <a:avLst/>
          </a:prstGeom>
          <a:solidFill>
            <a:srgbClr val="D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848203" y="4241616"/>
            <a:ext cx="59312" cy="59312"/>
          </a:xfrm>
          <a:prstGeom prst="rect">
            <a:avLst/>
          </a:prstGeom>
          <a:solidFill>
            <a:srgbClr val="D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177903" y="5387860"/>
            <a:ext cx="65962" cy="65962"/>
          </a:xfrm>
          <a:prstGeom prst="rect">
            <a:avLst/>
          </a:prstGeom>
          <a:solidFill>
            <a:srgbClr val="D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603573" y="4133301"/>
            <a:ext cx="86777" cy="86777"/>
          </a:xfrm>
          <a:prstGeom prst="rect">
            <a:avLst/>
          </a:prstGeom>
          <a:solidFill>
            <a:srgbClr val="D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990838" y="5408706"/>
            <a:ext cx="81787" cy="81787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541934" y="5495001"/>
            <a:ext cx="65732" cy="657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543360" y="5028568"/>
            <a:ext cx="67411" cy="67411"/>
          </a:xfrm>
          <a:prstGeom prst="rect">
            <a:avLst/>
          </a:prstGeom>
          <a:solidFill>
            <a:srgbClr val="E0B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955913" y="5658332"/>
            <a:ext cx="50711" cy="50711"/>
          </a:xfrm>
          <a:prstGeom prst="rect">
            <a:avLst/>
          </a:prstGeom>
          <a:solidFill>
            <a:srgbClr val="D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431477" y="5715411"/>
            <a:ext cx="77756" cy="77756"/>
          </a:xfrm>
          <a:prstGeom prst="rect">
            <a:avLst/>
          </a:prstGeom>
          <a:solidFill>
            <a:srgbClr val="D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359874" y="4309658"/>
            <a:ext cx="56076" cy="560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884881" y="5694167"/>
            <a:ext cx="59925" cy="59925"/>
          </a:xfrm>
          <a:prstGeom prst="rect">
            <a:avLst/>
          </a:prstGeom>
          <a:solidFill>
            <a:srgbClr val="D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095442" y="4818862"/>
            <a:ext cx="54184" cy="54184"/>
          </a:xfrm>
          <a:prstGeom prst="rect">
            <a:avLst/>
          </a:prstGeom>
          <a:solidFill>
            <a:srgbClr val="D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188160" y="5130944"/>
            <a:ext cx="72565" cy="72565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498700" y="3995953"/>
            <a:ext cx="85167" cy="85167"/>
          </a:xfrm>
          <a:prstGeom prst="rect">
            <a:avLst/>
          </a:prstGeom>
          <a:solidFill>
            <a:srgbClr val="D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739537" y="5035834"/>
            <a:ext cx="68163" cy="68163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783174" y="5700988"/>
            <a:ext cx="80710" cy="80710"/>
          </a:xfrm>
          <a:prstGeom prst="rect">
            <a:avLst/>
          </a:prstGeom>
          <a:solidFill>
            <a:srgbClr val="E0B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945418" y="4184537"/>
            <a:ext cx="71043" cy="71043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312566" y="4767293"/>
            <a:ext cx="52823" cy="52823"/>
          </a:xfrm>
          <a:prstGeom prst="rect">
            <a:avLst/>
          </a:prstGeom>
          <a:solidFill>
            <a:srgbClr val="D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111375" y="3917123"/>
            <a:ext cx="67675" cy="67675"/>
          </a:xfrm>
          <a:prstGeom prst="rect">
            <a:avLst/>
          </a:prstGeom>
          <a:solidFill>
            <a:srgbClr val="D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639584" y="4866392"/>
            <a:ext cx="72478" cy="7247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782413" y="5407477"/>
            <a:ext cx="75524" cy="75524"/>
          </a:xfrm>
          <a:prstGeom prst="rect">
            <a:avLst/>
          </a:prstGeom>
          <a:solidFill>
            <a:srgbClr val="D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242770" y="5977787"/>
            <a:ext cx="74061" cy="74061"/>
          </a:xfrm>
          <a:prstGeom prst="rect">
            <a:avLst/>
          </a:prstGeom>
          <a:solidFill>
            <a:srgbClr val="E0B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661852" y="4685261"/>
            <a:ext cx="59359" cy="59359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351274" y="5010548"/>
            <a:ext cx="58708" cy="587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89708" y="5294729"/>
            <a:ext cx="52445" cy="52445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685742" y="5655611"/>
            <a:ext cx="52883" cy="52883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105998" y="4765923"/>
            <a:ext cx="70015" cy="70015"/>
          </a:xfrm>
          <a:prstGeom prst="rect">
            <a:avLst/>
          </a:prstGeom>
          <a:solidFill>
            <a:srgbClr val="D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809573" y="4969500"/>
            <a:ext cx="67580" cy="67580"/>
          </a:xfrm>
          <a:prstGeom prst="rect">
            <a:avLst/>
          </a:prstGeom>
          <a:solidFill>
            <a:srgbClr val="E0B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282808" y="4064568"/>
            <a:ext cx="53837" cy="53837"/>
          </a:xfrm>
          <a:prstGeom prst="rect">
            <a:avLst/>
          </a:prstGeom>
          <a:solidFill>
            <a:srgbClr val="E0B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417983" y="4589250"/>
            <a:ext cx="81887" cy="81887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730880" y="5951673"/>
            <a:ext cx="53891" cy="53891"/>
          </a:xfrm>
          <a:prstGeom prst="rect">
            <a:avLst/>
          </a:prstGeom>
          <a:solidFill>
            <a:srgbClr val="E0B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956573" y="5515240"/>
            <a:ext cx="54288" cy="542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742791" y="4678431"/>
            <a:ext cx="65722" cy="65722"/>
          </a:xfrm>
          <a:prstGeom prst="rect">
            <a:avLst/>
          </a:prstGeom>
          <a:solidFill>
            <a:srgbClr val="E0B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863741" y="5690917"/>
            <a:ext cx="53049" cy="53049"/>
          </a:xfrm>
          <a:prstGeom prst="rect">
            <a:avLst/>
          </a:prstGeom>
          <a:solidFill>
            <a:srgbClr val="D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362994" y="5162315"/>
            <a:ext cx="70064" cy="700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947345" y="5814261"/>
            <a:ext cx="81333" cy="81333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632432" y="4756280"/>
            <a:ext cx="81917" cy="81917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637568" y="3617004"/>
            <a:ext cx="64572" cy="64572"/>
          </a:xfrm>
          <a:prstGeom prst="rect">
            <a:avLst/>
          </a:prstGeom>
          <a:solidFill>
            <a:srgbClr val="E0B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133863" y="5267984"/>
            <a:ext cx="77010" cy="77010"/>
          </a:xfrm>
          <a:prstGeom prst="rect">
            <a:avLst/>
          </a:prstGeom>
          <a:solidFill>
            <a:srgbClr val="D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683588" y="4768912"/>
            <a:ext cx="57237" cy="57237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946165" y="4988846"/>
            <a:ext cx="70123" cy="70123"/>
          </a:xfrm>
          <a:prstGeom prst="rect">
            <a:avLst/>
          </a:prstGeom>
          <a:solidFill>
            <a:srgbClr val="D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250541" y="3731090"/>
            <a:ext cx="67731" cy="67731"/>
          </a:xfrm>
          <a:prstGeom prst="rect">
            <a:avLst/>
          </a:prstGeom>
          <a:solidFill>
            <a:srgbClr val="D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607924" y="5896074"/>
            <a:ext cx="53222" cy="5322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242071" y="3773452"/>
            <a:ext cx="81813" cy="81813"/>
          </a:xfrm>
          <a:prstGeom prst="rect">
            <a:avLst/>
          </a:prstGeom>
          <a:solidFill>
            <a:srgbClr val="E0B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453429" y="5728484"/>
            <a:ext cx="59297" cy="59297"/>
          </a:xfrm>
          <a:prstGeom prst="rect">
            <a:avLst/>
          </a:prstGeom>
          <a:solidFill>
            <a:srgbClr val="D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123648" y="3806790"/>
            <a:ext cx="74336" cy="74336"/>
          </a:xfrm>
          <a:prstGeom prst="rect">
            <a:avLst/>
          </a:prstGeom>
          <a:solidFill>
            <a:srgbClr val="D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3111266" y="5834088"/>
            <a:ext cx="57762" cy="57762"/>
          </a:xfrm>
          <a:prstGeom prst="rect">
            <a:avLst/>
          </a:prstGeom>
          <a:solidFill>
            <a:srgbClr val="D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2252923" y="4243362"/>
            <a:ext cx="55079" cy="55079"/>
          </a:xfrm>
          <a:prstGeom prst="rect">
            <a:avLst/>
          </a:prstGeom>
          <a:solidFill>
            <a:srgbClr val="D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2194547" y="4363572"/>
            <a:ext cx="77792" cy="777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98451" y="5088648"/>
            <a:ext cx="70884" cy="7088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261573" y="4118641"/>
            <a:ext cx="59991" cy="59991"/>
          </a:xfrm>
          <a:prstGeom prst="rect">
            <a:avLst/>
          </a:prstGeom>
          <a:solidFill>
            <a:srgbClr val="E0B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4584699" y="5702292"/>
            <a:ext cx="63807" cy="63807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2763161" y="4903348"/>
            <a:ext cx="61356" cy="61356"/>
          </a:xfrm>
          <a:prstGeom prst="rect">
            <a:avLst/>
          </a:prstGeom>
          <a:solidFill>
            <a:srgbClr val="D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3136605" y="5199684"/>
            <a:ext cx="70577" cy="70577"/>
          </a:xfrm>
          <a:prstGeom prst="rect">
            <a:avLst/>
          </a:prstGeom>
          <a:solidFill>
            <a:srgbClr val="D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386357" y="5699574"/>
            <a:ext cx="59965" cy="59965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015016" y="3981448"/>
            <a:ext cx="60597" cy="60597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3912950" y="4095920"/>
            <a:ext cx="73489" cy="73489"/>
          </a:xfrm>
          <a:prstGeom prst="rect">
            <a:avLst/>
          </a:prstGeom>
          <a:solidFill>
            <a:srgbClr val="E0B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3039777" y="4208905"/>
            <a:ext cx="83508" cy="835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339909" y="4618905"/>
            <a:ext cx="60411" cy="60411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2332638" y="3922895"/>
            <a:ext cx="86129" cy="86129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4010136" y="4923467"/>
            <a:ext cx="65935" cy="65935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420458" y="5858681"/>
            <a:ext cx="75566" cy="7556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3205114" y="5596079"/>
            <a:ext cx="71597" cy="71597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728606" y="3711325"/>
            <a:ext cx="63629" cy="63629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4659015" y="4111324"/>
            <a:ext cx="59418" cy="5941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415436" y="4942969"/>
            <a:ext cx="82285" cy="82285"/>
          </a:xfrm>
          <a:prstGeom prst="rect">
            <a:avLst/>
          </a:prstGeom>
          <a:solidFill>
            <a:srgbClr val="D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4044070" y="5812827"/>
            <a:ext cx="58950" cy="589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4977012" y="5539441"/>
            <a:ext cx="82530" cy="8253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698153" y="5809793"/>
            <a:ext cx="78908" cy="78908"/>
          </a:xfrm>
          <a:prstGeom prst="rect">
            <a:avLst/>
          </a:prstGeom>
          <a:solidFill>
            <a:srgbClr val="E0B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4261157" y="5666140"/>
            <a:ext cx="79945" cy="79945"/>
          </a:xfrm>
          <a:prstGeom prst="rect">
            <a:avLst/>
          </a:prstGeom>
          <a:solidFill>
            <a:srgbClr val="E0B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615187" y="5279126"/>
            <a:ext cx="64283" cy="64283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4493059" y="4140702"/>
            <a:ext cx="80159" cy="80159"/>
          </a:xfrm>
          <a:prstGeom prst="rect">
            <a:avLst/>
          </a:prstGeom>
          <a:solidFill>
            <a:srgbClr val="E0B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2398894" y="5562656"/>
            <a:ext cx="82161" cy="82161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057494" y="4071034"/>
            <a:ext cx="62298" cy="6229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938675" y="4275482"/>
            <a:ext cx="73754" cy="73754"/>
          </a:xfrm>
          <a:prstGeom prst="rect">
            <a:avLst/>
          </a:prstGeom>
          <a:solidFill>
            <a:srgbClr val="E0B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756201" y="5617633"/>
            <a:ext cx="62404" cy="624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434728" y="5918949"/>
            <a:ext cx="56823" cy="56823"/>
          </a:xfrm>
          <a:prstGeom prst="rect">
            <a:avLst/>
          </a:prstGeom>
          <a:solidFill>
            <a:srgbClr val="E0B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117540" y="5030192"/>
            <a:ext cx="62935" cy="62935"/>
          </a:xfrm>
          <a:prstGeom prst="rect">
            <a:avLst/>
          </a:prstGeom>
          <a:solidFill>
            <a:srgbClr val="E0B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2755793" y="5951841"/>
            <a:ext cx="54521" cy="54521"/>
          </a:xfrm>
          <a:prstGeom prst="rect">
            <a:avLst/>
          </a:prstGeom>
          <a:solidFill>
            <a:srgbClr val="D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742256" y="3717406"/>
            <a:ext cx="66241" cy="66241"/>
          </a:xfrm>
          <a:prstGeom prst="rect">
            <a:avLst/>
          </a:prstGeom>
          <a:solidFill>
            <a:srgbClr val="D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768676" y="4892017"/>
            <a:ext cx="76605" cy="76605"/>
          </a:xfrm>
          <a:prstGeom prst="rect">
            <a:avLst/>
          </a:prstGeom>
          <a:solidFill>
            <a:srgbClr val="D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3992882" y="4080319"/>
            <a:ext cx="66067" cy="66067"/>
          </a:xfrm>
          <a:prstGeom prst="rect">
            <a:avLst/>
          </a:prstGeom>
          <a:solidFill>
            <a:srgbClr val="D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48907" y="5093394"/>
            <a:ext cx="74556" cy="7455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3921764" y="4325878"/>
            <a:ext cx="61604" cy="61604"/>
          </a:xfrm>
          <a:prstGeom prst="rect">
            <a:avLst/>
          </a:prstGeom>
          <a:solidFill>
            <a:srgbClr val="E0B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2302297" y="5269451"/>
            <a:ext cx="70570" cy="7057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2690172" y="5847538"/>
            <a:ext cx="75065" cy="75065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3492840" y="4327370"/>
            <a:ext cx="70333" cy="70333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2210504" y="4111576"/>
            <a:ext cx="79031" cy="79031"/>
          </a:xfrm>
          <a:prstGeom prst="rect">
            <a:avLst/>
          </a:prstGeom>
          <a:solidFill>
            <a:srgbClr val="D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3654102" y="4717361"/>
            <a:ext cx="66464" cy="664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3063498" y="5498938"/>
            <a:ext cx="85398" cy="85398"/>
          </a:xfrm>
          <a:prstGeom prst="rect">
            <a:avLst/>
          </a:prstGeom>
          <a:solidFill>
            <a:srgbClr val="D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658366" y="3813476"/>
            <a:ext cx="69145" cy="69145"/>
          </a:xfrm>
          <a:prstGeom prst="rect">
            <a:avLst/>
          </a:prstGeom>
          <a:solidFill>
            <a:srgbClr val="D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3508254" y="3833902"/>
            <a:ext cx="85112" cy="8511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3728539" y="4145949"/>
            <a:ext cx="57575" cy="57575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150280" y="5951128"/>
            <a:ext cx="72649" cy="72649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2834066" y="5718617"/>
            <a:ext cx="71347" cy="71347"/>
          </a:xfrm>
          <a:prstGeom prst="rect">
            <a:avLst/>
          </a:prstGeom>
          <a:solidFill>
            <a:srgbClr val="D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3825478" y="4787232"/>
            <a:ext cx="59215" cy="59215"/>
          </a:xfrm>
          <a:prstGeom prst="rect">
            <a:avLst/>
          </a:prstGeom>
          <a:solidFill>
            <a:srgbClr val="D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3789548" y="5734125"/>
            <a:ext cx="81763" cy="81763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4163164" y="4132161"/>
            <a:ext cx="79703" cy="79703"/>
          </a:xfrm>
          <a:prstGeom prst="rect">
            <a:avLst/>
          </a:prstGeom>
          <a:solidFill>
            <a:srgbClr val="D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3091412" y="3731271"/>
            <a:ext cx="59406" cy="5940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2838369" y="5517199"/>
            <a:ext cx="74709" cy="74709"/>
          </a:xfrm>
          <a:prstGeom prst="rect">
            <a:avLst/>
          </a:prstGeom>
          <a:solidFill>
            <a:srgbClr val="D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3410287" y="5870542"/>
            <a:ext cx="82896" cy="82896"/>
          </a:xfrm>
          <a:prstGeom prst="rect">
            <a:avLst/>
          </a:prstGeom>
          <a:solidFill>
            <a:srgbClr val="D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4313708" y="5732604"/>
            <a:ext cx="65900" cy="65900"/>
          </a:xfrm>
          <a:prstGeom prst="rect">
            <a:avLst/>
          </a:prstGeom>
          <a:solidFill>
            <a:srgbClr val="D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2794965" y="3990268"/>
            <a:ext cx="81802" cy="81802"/>
          </a:xfrm>
          <a:prstGeom prst="rect">
            <a:avLst/>
          </a:prstGeom>
          <a:solidFill>
            <a:srgbClr val="E0B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2026641" y="4199677"/>
            <a:ext cx="73615" cy="73615"/>
          </a:xfrm>
          <a:prstGeom prst="rect">
            <a:avLst/>
          </a:prstGeom>
          <a:solidFill>
            <a:srgbClr val="D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2954139" y="4180672"/>
            <a:ext cx="66380" cy="66380"/>
          </a:xfrm>
          <a:prstGeom prst="rect">
            <a:avLst/>
          </a:prstGeom>
          <a:solidFill>
            <a:srgbClr val="D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2135834" y="4257866"/>
            <a:ext cx="61985" cy="61985"/>
          </a:xfrm>
          <a:prstGeom prst="rect">
            <a:avLst/>
          </a:prstGeom>
          <a:solidFill>
            <a:srgbClr val="D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1291680" y="3970470"/>
            <a:ext cx="64301" cy="64301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3866893" y="3764580"/>
            <a:ext cx="65200" cy="65200"/>
          </a:xfrm>
          <a:prstGeom prst="rect">
            <a:avLst/>
          </a:prstGeom>
          <a:solidFill>
            <a:srgbClr val="D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2877305" y="3759912"/>
            <a:ext cx="80755" cy="80755"/>
          </a:xfrm>
          <a:prstGeom prst="rect">
            <a:avLst/>
          </a:prstGeom>
          <a:solidFill>
            <a:srgbClr val="E0B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4683349" y="5000493"/>
            <a:ext cx="75731" cy="75731"/>
          </a:xfrm>
          <a:prstGeom prst="rect">
            <a:avLst/>
          </a:prstGeom>
          <a:solidFill>
            <a:srgbClr val="D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2525311" y="3625897"/>
            <a:ext cx="63157" cy="63157"/>
          </a:xfrm>
          <a:prstGeom prst="rect">
            <a:avLst/>
          </a:prstGeom>
          <a:solidFill>
            <a:srgbClr val="E0B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4471887" y="5878603"/>
            <a:ext cx="65618" cy="65618"/>
          </a:xfrm>
          <a:prstGeom prst="rect">
            <a:avLst/>
          </a:prstGeom>
          <a:solidFill>
            <a:srgbClr val="D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3982992" y="5513518"/>
            <a:ext cx="83130" cy="83130"/>
          </a:xfrm>
          <a:prstGeom prst="rect">
            <a:avLst/>
          </a:prstGeom>
          <a:solidFill>
            <a:srgbClr val="E0B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1862996" y="4648053"/>
            <a:ext cx="51353" cy="51353"/>
          </a:xfrm>
          <a:prstGeom prst="rect">
            <a:avLst/>
          </a:prstGeom>
          <a:solidFill>
            <a:srgbClr val="E0B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3712401" y="5509415"/>
            <a:ext cx="76779" cy="76779"/>
          </a:xfrm>
          <a:prstGeom prst="rect">
            <a:avLst/>
          </a:prstGeom>
          <a:solidFill>
            <a:srgbClr val="E0B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4743849" y="5943487"/>
            <a:ext cx="69828" cy="69828"/>
          </a:xfrm>
          <a:prstGeom prst="rect">
            <a:avLst/>
          </a:prstGeom>
          <a:solidFill>
            <a:srgbClr val="E0B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3395640" y="5188122"/>
            <a:ext cx="53362" cy="53362"/>
          </a:xfrm>
          <a:prstGeom prst="rect">
            <a:avLst/>
          </a:prstGeom>
          <a:solidFill>
            <a:srgbClr val="E0B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1518496" y="4709540"/>
            <a:ext cx="52131" cy="52131"/>
          </a:xfrm>
          <a:prstGeom prst="rect">
            <a:avLst/>
          </a:prstGeom>
          <a:solidFill>
            <a:srgbClr val="E0B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2307110" y="4692900"/>
            <a:ext cx="62636" cy="62636"/>
          </a:xfrm>
          <a:prstGeom prst="rect">
            <a:avLst/>
          </a:prstGeom>
          <a:solidFill>
            <a:srgbClr val="E0B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2105090" y="5873310"/>
            <a:ext cx="65711" cy="65711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914400" y="62179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E63A46"/>
                </a:solidFill>
              </a:rPr>
              <a:t>קו מגמה: כמעט שטוח (r = −0.06)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669280" y="3154680"/>
            <a:ext cx="6126480" cy="1051560"/>
          </a:xfrm>
          <a:prstGeom prst="rect">
            <a:avLst/>
          </a:prstGeom>
          <a:solidFill>
            <a:srgbClr val="1A202C"/>
          </a:solidFill>
          <a:ln w="19050">
            <a:solidFill>
              <a:srgbClr val="E63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5806440" y="3200400"/>
            <a:ext cx="5897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E63A46"/>
                </a:solidFill>
              </a:rPr>
              <a:t>💡 תובנה 1 — אין קשר מחיר–איכות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5806440" y="3593592"/>
            <a:ext cx="5897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</a:rPr>
              <a:t>r = −0.06. שווארמה ב-₪58 אינה
טובה מ-₪44 מבחינה סטטיסטית.
מחיר לבדו — פילטר חסר ערך.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5669280" y="4297680"/>
            <a:ext cx="6126480" cy="1051560"/>
          </a:xfrm>
          <a:prstGeom prst="rect">
            <a:avLst/>
          </a:prstGeom>
          <a:solidFill>
            <a:srgbClr val="1A202C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5806440" y="4343400"/>
            <a:ext cx="5897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C9A84C"/>
                </a:solidFill>
              </a:rPr>
              <a:t>💡 תובנה 2 — מחירים בטווח צר בלבד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5806440" y="4736592"/>
            <a:ext cx="5897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</a:rPr>
              <a:t>IQR = ₪5 בלבד (₪43–₪48).
50% מהמסעדות בתוך 5 שקלים.
דירוג + מרחק חייבים להיכנס.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5669280" y="5440680"/>
            <a:ext cx="6126480" cy="1051560"/>
          </a:xfrm>
          <a:prstGeom prst="rect">
            <a:avLst/>
          </a:prstGeom>
          <a:solidFill>
            <a:srgbClr val="1A202C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5806440" y="5486400"/>
            <a:ext cx="5897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2A9D8F"/>
                </a:solidFill>
              </a:rPr>
              <a:t>💡 תובנה 3 — ארביטראז׳ גיאוגרפי: ₪13.6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5806440" y="5879592"/>
            <a:ext cx="5897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</a:rPr>
              <a:t>ממוצע מחיר עירוני נע ב-₪13.6.
מיקום הוא אות משמעותי.
קואורדינטות הכרחיות למודל.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09760" y="182880"/>
            <a:ext cx="2286000" cy="502920"/>
          </a:xfrm>
          <a:prstGeom prst="rect">
            <a:avLst/>
          </a:prstGeom>
          <a:solidFill>
            <a:srgbClr val="1A202C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84C"/>
                </a:solidFill>
              </a:rPr>
              <a:t>3:15 – 4:00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B8B8B"/>
                </a:solidFill>
              </a:rPr>
              <a:t>חלק 4 מתוך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000" b="1" i="0">
                <a:solidFill>
                  <a:srgbClr val="F0D080"/>
                </a:solidFill>
              </a:rPr>
              <a:t>KPI + הצעד הבא — מה אנחנו בונים ב-M3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27632"/>
            <a:ext cx="11457432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3749039" cy="1783080"/>
          </a:xfrm>
          <a:prstGeom prst="rect">
            <a:avLst/>
          </a:prstGeom>
          <a:solidFill>
            <a:srgbClr val="1A202C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9A84C"/>
                </a:solidFill>
              </a:rPr>
              <a:t>≥ 0.45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517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Silhouette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090672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8B8B"/>
                </a:solidFill>
              </a:rPr>
              <a:t>יעד איכות האשכולות
מול ממוצע רנדומלי ≈ 0.10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06823" y="1828800"/>
            <a:ext cx="3749039" cy="1783080"/>
          </a:xfrm>
          <a:prstGeom prst="rect">
            <a:avLst/>
          </a:prstGeom>
          <a:solidFill>
            <a:srgbClr val="1A202C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6823" y="1920240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9A84C"/>
                </a:solidFill>
              </a:rPr>
              <a:t>≥ 90%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6823" y="26517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דיוק ההמלצה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6823" y="3090672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8B8B"/>
                </a:solidFill>
              </a:rPr>
              <a:t>הערכה ידנית
על 50 מקרי בדיקה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47886" y="1828800"/>
            <a:ext cx="3749039" cy="1783080"/>
          </a:xfrm>
          <a:prstGeom prst="rect">
            <a:avLst/>
          </a:prstGeom>
          <a:solidFill>
            <a:srgbClr val="1A202C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6" y="1920240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9A84C"/>
                </a:solidFill>
              </a:rPr>
              <a:t>&lt; 3 שנ׳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6" y="26517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זמן תגובה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6" y="3090672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8B8B"/>
                </a:solidFill>
              </a:rPr>
              <a:t>GPS → רשימה ממוינת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749039"/>
            <a:ext cx="11457432" cy="25400"/>
          </a:xfrm>
          <a:prstGeom prst="rect">
            <a:avLst/>
          </a:prstGeom>
          <a:solidFill>
            <a:srgbClr val="333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931920"/>
            <a:ext cx="5394960" cy="2514600"/>
          </a:xfrm>
          <a:prstGeom prst="rect">
            <a:avLst/>
          </a:prstGeom>
          <a:solidFill>
            <a:srgbClr val="1A202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023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C9A84C"/>
                </a:solidFill>
              </a:rPr>
              <a:t>ה-Baseline שעלינו לנצח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5262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C9A84C"/>
                </a:solidFill>
              </a:rPr>
              <a:t>:ה-Baseline הנוכחי: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45262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</a:rPr>
              <a:t>מיון לפי מרחק בלבד — ברירת המחדל של גוגל מפות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9834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C9A84C"/>
                </a:solidFill>
              </a:rPr>
              <a:t>:הכשל שלו: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49834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</a:rPr>
              <a:t>מתעלם לחלוטין ממחיר ודירוג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4406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C9A84C"/>
                </a:solidFill>
              </a:rPr>
              <a:t>:היתרון שלנו: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54406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</a:rPr>
              <a:t>K-Means משלב [מחיר, דירוג, distance_km] לציון אחד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8978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C9A84C"/>
                </a:solidFill>
              </a:rPr>
              <a:t>:תנאי הצלחה: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5897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</a:rPr>
              <a:t>Silhouette ≥ 0.45 על 15% test split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931920"/>
            <a:ext cx="5394960" cy="2514600"/>
          </a:xfrm>
          <a:prstGeom prst="rect">
            <a:avLst/>
          </a:prstGeom>
          <a:solidFill>
            <a:srgbClr val="2A2208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4023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C9A84C"/>
                </a:solidFill>
              </a:rPr>
              <a:t>🚀  תוכנית M3 — מה אנחנו בונים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52628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</a:rPr>
              <a:t>.1  נרמול פיצ׳רים עם StandardScaler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4910328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</a:rPr>
              <a:t>.2  אימון K-Means: סריקת k ∈ {3...8} (Elbow + Silhouette)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5294376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</a:rPr>
              <a:t>.3  הערכה על 15% test split — יעד: Silhouette ≥ 0.45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5678424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</a:rPr>
              <a:t>.4  פונקציית ניקוד: rank = f(cluster, price, rating, distance)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6062472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</a:rPr>
              <a:t>.5  לשונית ״המלץ עלי״ — GPS → רשימה ממוינת &lt; 3 שנ׳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