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280160"/>
            <a:ext cx="64008" cy="3840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45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5400" b="1" i="0">
                <a:solidFill>
                  <a:srgbClr val="F0D080"/>
                </a:solidFill>
              </a:rPr>
              <a:t>הנדסת התיאבון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2316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 i="0">
                <a:solidFill>
                  <a:srgbClr val="FFFFFF"/>
                </a:solidFill>
              </a:rPr>
              <a:t>מנתונים להחלטות בזמן אמת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42900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8B8B8B"/>
                </a:solidFill>
              </a:rPr>
              <a:t>אפליקציית המלצות שווארמה מבוססת ML — ניתוח, Clustering, והמלצה בזמן אמת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303520"/>
            <a:ext cx="2743200" cy="10972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5349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84C"/>
                </a:solidFill>
              </a:rPr>
              <a:t>0:00–0:45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852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בעיה + פרסונה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5303520"/>
            <a:ext cx="2743200" cy="10972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5349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84C"/>
                </a:solidFill>
              </a:rPr>
              <a:t>0:45–1:45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5852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ספרות + שוק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5303520"/>
            <a:ext cx="2743200" cy="10972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5349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84C"/>
                </a:solidFill>
              </a:rPr>
              <a:t>1:45–3:15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5852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EDA + תובנה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5303520"/>
            <a:ext cx="2743200" cy="109728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6296" y="53492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84C"/>
                </a:solidFill>
              </a:rPr>
              <a:t>3:15–4:00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852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KPI + 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B8B8B"/>
                </a:solidFill>
              </a:rPr>
              <a:t>גידי הורש ואליאד  ·  קורס LBS  ·  הטכניון  ·  M2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0:00 – 0:45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74320"/>
            <a:ext cx="9052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8B8B8B"/>
                </a:solidFill>
              </a:rPr>
              <a:t>חלק 1 מתוך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0D080"/>
                </a:solidFill>
              </a:rPr>
              <a:t>בעיה + פרסונה — הצעת ערך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5394960" cy="3657600"/>
          </a:xfrm>
          <a:prstGeom prst="rect">
            <a:avLst/>
          </a:prstGeom>
          <a:solidFill>
            <a:srgbClr val="250808"/>
          </a:solidFill>
          <a:ln w="1905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63A46"/>
                </a:solidFill>
              </a:rPr>
              <a:t>❌  לפני — ללא המערכת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13:10 — 30 דקות בין הרצאות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98648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גוגל מפות → 47 תוצאות, אין מחיר מדויק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8 דקות גלילה → בוחר מהזיכרון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58184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משלם 58 ש״ח על שווארמה 3.1★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87952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חוזר מאוחר להרצאה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17720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עומס קוגניטיבי: גבוה  ·  שביעות רצון: נמוכה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3832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828800"/>
            <a:ext cx="5394960" cy="3657600"/>
          </a:xfrm>
          <a:prstGeom prst="rect">
            <a:avLst/>
          </a:prstGeom>
          <a:solidFill>
            <a:srgbClr val="2A2208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202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9A84C"/>
                </a:solidFill>
              </a:rPr>
              <a:t>✅  אחרי — עם הנדסת התיאבון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אותו תרחיש — אייל פותח את האפליקציה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898648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בוחר פרסונה: סטודנט חסכן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28416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GPS מופעל → 3 שניות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58184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#1: 4.7★  ·  47 ש״ח  ·  הליכה 6 דק׳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187952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משלם 11 ש״ח פחות, שווארמה טובה יותר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17720"/>
            <a:ext cx="52120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◀  עומס קוגניטיבי: אפס  ·  שביעות רצון: גבוהה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5394960" cy="9144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0D080"/>
                </a:solidFill>
              </a:rPr>
              <a:t>👑  חובב האיכות: דירוג ×2.0  ·  מחיר ×0.5  ·  סף: 4.8★ ומעלה בלבד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5577840"/>
            <a:ext cx="5394960" cy="9144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56235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🎓  הסטודנט החסכן: מחיר ×1.5  ·  דירוג ×1.0  ·  סף: ≤52 ש״ח  ·  דירוג ≥4.0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0:45 – 1:45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74320"/>
            <a:ext cx="9052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8B8B8B"/>
                </a:solidFill>
              </a:rPr>
              <a:t>חלק 2 מתוך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0D080"/>
                </a:solidFill>
              </a:rPr>
              <a:t>ספרות + שוק — מה למדנו, מי המתחרים, במה שונים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11457432" cy="12344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9A84C"/>
                </a:solidFill>
              </a:rPr>
              <a:t>Bondevik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64.8% ממערכות המלצות מזון משתמשות ב-ML.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F0D080"/>
                </a:solidFill>
              </a:rPr>
              <a:t>→ הגישה שלנו (K-Means מותאם אישית) היא במיעוט בעל ערך גבוה.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0400"/>
            <a:ext cx="11457432" cy="12344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735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9A84C"/>
                </a:solidFill>
              </a:rPr>
              <a:t>Villegas 2018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52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מיקום + זמן הם שני ממדי ההקשר הדומיננטיים ב-CARS.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F0D080"/>
                </a:solidFill>
              </a:rPr>
              <a:t>→ מצדיק distance_km כפיצ׳ר ליבה במודל שלנו.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72000"/>
            <a:ext cx="11457432" cy="12344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451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9A84C"/>
                </a:solidFill>
              </a:rPr>
              <a:t>Asani 2021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45152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Clustering על וקטורים מנורמלים → 92.8% דיוק Top-5.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1">
                <a:solidFill>
                  <a:srgbClr val="F0D080"/>
                </a:solidFill>
              </a:rPr>
              <a:t>→ מאשש K-Means על [מחיר, דירוג, מרחק] מול מיון פשוט.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98932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6080760"/>
            <a:ext cx="2103120" cy="45720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0807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Platform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80" y="6080760"/>
            <a:ext cx="1645920" cy="45720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80" y="60807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מחיר מדויק 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6080760"/>
            <a:ext cx="1645920" cy="45720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0" y="60807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ML אישי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6080760"/>
            <a:ext cx="1371600" cy="45720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6080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Walk-in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6080760"/>
            <a:ext cx="3200400" cy="457200"/>
          </a:xfrm>
          <a:prstGeom prst="rect">
            <a:avLst/>
          </a:prstGeom>
          <a:solidFill>
            <a:srgbClr val="1A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6080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מייעל עבור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583680"/>
            <a:ext cx="21031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46888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60720" y="6583680"/>
            <a:ext cx="13716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32320" y="6583680"/>
            <a:ext cx="32004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6565392"/>
            <a:ext cx="1145743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583680"/>
            <a:ext cx="21031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6888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60720" y="6583680"/>
            <a:ext cx="13716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132320" y="6583680"/>
            <a:ext cx="32004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6565392"/>
            <a:ext cx="1145743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6583680"/>
            <a:ext cx="21031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88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1480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60720" y="6583680"/>
            <a:ext cx="13716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0" y="6583680"/>
            <a:ext cx="32004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6565392"/>
            <a:ext cx="1145743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6583680"/>
            <a:ext cx="21031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6888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0" y="6583680"/>
            <a:ext cx="164592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60720" y="6583680"/>
            <a:ext cx="13716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32320" y="6583680"/>
            <a:ext cx="3200400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6565392"/>
            <a:ext cx="1145743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565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Google Maps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6888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0" y="656539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חלקי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6565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מעורבות פרסומות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565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Wolt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6888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קטגוריה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0720" y="656539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6565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עמלת משלוח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TripAdvisor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6888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היסטוריה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60720" y="656539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2320" y="6565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תנועת ביקורות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65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D080"/>
                </a:solidFill>
              </a:rPr>
              <a:t>⭐ הנדסת התיאבון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6888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D080"/>
                </a:solidFill>
              </a:rPr>
              <a:t>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0" y="656539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D080"/>
                </a:solidFill>
              </a:rPr>
              <a:t>K-Means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60720" y="656539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D080"/>
                </a:solidFill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32320" y="65653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D080"/>
                </a:solidFill>
              </a:rPr>
              <a:t>ערך למשתמש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1:45 – 3:15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74320"/>
            <a:ext cx="9052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8B8B8B"/>
                </a:solidFill>
              </a:rPr>
              <a:t>חלק 3 מתוך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0D080"/>
                </a:solidFill>
              </a:rPr>
              <a:t>EDA + תובנה ייחודית — ויזואליזציה + תובנות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2743200" cy="11887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</a:rPr>
              <a:t>12,270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42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מסעדות במאגר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828800"/>
            <a:ext cx="2743200" cy="11887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874519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2542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ערים בישראל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1828800"/>
            <a:ext cx="2743200" cy="11887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1874519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</a:rPr>
              <a:t>₪46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42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מחיר חציוני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828800"/>
            <a:ext cx="2743200" cy="11887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6296" y="1874519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</a:rPr>
              <a:t>4.32★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5420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דירוג ממוצע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46120"/>
            <a:ext cx="3749039" cy="324612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375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C9A84C"/>
                </a:solidFill>
              </a:rPr>
              <a:t>r = −0.06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86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FFFFFF"/>
                </a:solidFill>
              </a:rPr>
              <a:t>אין קורלציה מחיר–איכות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3484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8B8B8B"/>
                </a:solidFill>
              </a:rPr>
              <a:t>שווארמה ב-58 ש״ח אינה טובה
סטטיסטית משווארמה ב-44 ש״ח.
השוק כאוטי — מחייב מודל.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06823" y="3246120"/>
            <a:ext cx="3749039" cy="324612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3" y="33375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C9A84C"/>
                </a:solidFill>
              </a:rPr>
              <a:t>IQR = 5 ש״ח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3" y="3886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FFFFFF"/>
                </a:solidFill>
              </a:rPr>
              <a:t>מחירים בטווח צר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3" y="443484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8B8B8B"/>
                </a:solidFill>
              </a:rPr>
              <a:t>50% מהמסעדות ב-43–48 ש״ח.
מחיר לבדו אינו מבדל — דירוג
ומרחק חייבים להיכנס.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6" y="3246120"/>
            <a:ext cx="3749039" cy="324612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6" y="33375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400" b="1" i="0">
                <a:solidFill>
                  <a:srgbClr val="C9A84C"/>
                </a:solidFill>
              </a:rPr>
              <a:t>פרש ₪13.6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6" y="3886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FFFFFF"/>
                </a:solidFill>
              </a:rPr>
              <a:t>ארביטראז׳ גיאוגרפי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6" y="443484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8B8B8B"/>
                </a:solidFill>
              </a:rPr>
              <a:t>ממוצע מחיר בעיר נע ב-₪13.6.
מיקום הוא פיצ׳ר משמעותי —
המודל זקוק לקואורדינטות.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62940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7512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>
                <a:solidFill>
                  <a:srgbClr val="8B8B8B"/>
                </a:solidFill>
              </a:rPr>
              <a:t>דשבורד חי: streamlit run app.py  →  לשונית EDA עם פילטרים אינטראקטיביים + מפה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3:15 – 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74320"/>
            <a:ext cx="9052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8B8B8B"/>
                </a:solidFill>
              </a:rPr>
              <a:t>חלק 4 מתוך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F0D080"/>
                </a:solidFill>
              </a:rPr>
              <a:t>KPI + הצעד הבא — לאיזה אלגוריתם חותרים ב-M3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3749039" cy="182880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</a:rPr>
              <a:t>≥ 0.45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97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Silhouette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8211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8B8B"/>
                </a:solidFill>
              </a:rPr>
              <a:t>מול ממוצע רנדומלי ≈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3" y="1828800"/>
            <a:ext cx="3749039" cy="182880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3" y="19202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</a:rPr>
              <a:t>≥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3" y="2697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שיעור התאמת פרסונה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3" y="318211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8B8B"/>
                </a:solidFill>
              </a:rPr>
              <a:t>הערכה ידנית · 50 מקרי בדיקה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6" y="1828800"/>
            <a:ext cx="3749039" cy="1828800"/>
          </a:xfrm>
          <a:prstGeom prst="rect">
            <a:avLst/>
          </a:prstGeom>
          <a:solidFill>
            <a:srgbClr val="1A202C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6" y="19202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</a:rPr>
              <a:t>&lt; 3 שנ׳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6" y="269748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זמן תגובה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6" y="3182112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8B8B"/>
                </a:solidFill>
              </a:rPr>
              <a:t>GPS → רשימה ממוינת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86200"/>
            <a:ext cx="5303520" cy="26060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776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9A84C"/>
                </a:solidFill>
              </a:rPr>
              <a:t>למה Silhouette ≥ 0.45?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B8B8B"/>
                </a:solidFill>
              </a:rPr>
              <a:t>&lt; 0.25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480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B8B8B"/>
                </a:solidFill>
              </a:rPr>
              <a:t>חפיפה בין אשכולות — אין טוב מרנדומלי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9560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B8B8B"/>
                </a:solidFill>
              </a:rPr>
              <a:t>0.25 – 0.45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9560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מבנה חלש — פרסונות לא אמינות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431536"/>
            <a:ext cx="5193792" cy="457200"/>
          </a:xfrm>
          <a:prstGeom prst="rect">
            <a:avLst/>
          </a:prstGeom>
          <a:solidFill>
            <a:srgbClr val="0A2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9A84C"/>
                </a:solidFill>
              </a:rPr>
              <a:t>≥ 0.45  ✓ יעד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543153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A9D8F"/>
                </a:solidFill>
              </a:rPr>
              <a:t>הפרדה ברורה — פרסונות ניתנות לפעולה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90702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B8B8B"/>
                </a:solidFill>
              </a:rPr>
              <a:t>≥ 0.70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90702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מבנה חזק — אות המחיר דומיננטי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86200"/>
            <a:ext cx="5394960" cy="2606040"/>
          </a:xfrm>
          <a:prstGeom prst="rect">
            <a:avLst/>
          </a:prstGeom>
          <a:solidFill>
            <a:srgbClr val="2A2208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77639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C9A84C"/>
                </a:solidFill>
              </a:rPr>
              <a:t>🚀  תוכנית M3 — הצעד הבא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48056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◀  נרמול פיצ׳רים עם StandardScaler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82803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◀  אימון K-Means: סריקת k ∈ {3...8} (Elbow + Silhouette)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175504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◀  הערכה על 15% test split — יעד: Silhouette ≥ 0.45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522976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◀  דירוג משוקלל לפי פרסונה (סטודנט / איכות)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87044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◀  לשונית ״המלץ עלי״ — GPS ← רשימה ממוינת &lt; 3 שנ׳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621792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◀  ניצחון על Baseline: מיון לפי מרחק בלבד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