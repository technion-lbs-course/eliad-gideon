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64592" cy="14630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Appetite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4A261"/>
                </a:solidFill>
              </a:rPr>
              <a:t>הנדסת התיאבון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ML-powered shawarma navigation — clustering 12,270+ Israeli venues
by price, rating &amp; distance, personalized per user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C757D"/>
                </a:solidFill>
              </a:rPr>
              <a:t>M2 Presentation  ·  Gidi &amp; Eliad  ·  Technion LBS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A261"/>
                </a:solidFill>
              </a:rPr>
              <a:t>0:00 – 0:45  ·  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Problem &amp;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5577840" cy="4114800"/>
          </a:xfrm>
          <a:prstGeom prst="rect">
            <a:avLst/>
          </a:prstGeom>
          <a:solidFill>
            <a:srgbClr val="FFEBEB"/>
          </a:solidFill>
          <a:ln w="19050">
            <a:solidFill>
              <a:srgbClr val="E6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3A46"/>
                </a:solidFill>
              </a:rPr>
              <a:t>❌  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A2E4A"/>
                </a:solidFill>
              </a:rPr>
              <a:t>•  13:10 — 30 min between lectures</a:t>
            </a:r>
          </a:p>
          <a:p>
            <a:r>
              <a:rPr sz="1500">
                <a:solidFill>
                  <a:srgbClr val="1A2E4A"/>
                </a:solidFill>
              </a:rPr>
              <a:t>•  Google Maps → "shawarma near me" → 47 results</a:t>
            </a:r>
          </a:p>
          <a:p>
            <a:r>
              <a:rPr sz="1500">
                <a:solidFill>
                  <a:srgbClr val="1A2E4A"/>
                </a:solidFill>
              </a:rPr>
              <a:t>•  No exact price. No real ranking.</a:t>
            </a:r>
          </a:p>
          <a:p>
            <a:r>
              <a:rPr sz="1500">
                <a:solidFill>
                  <a:srgbClr val="1A2E4A"/>
                </a:solidFill>
              </a:rPr>
              <a:t>•  8 min scrolling → picks familiar 4.2★ spot</a:t>
            </a:r>
          </a:p>
          <a:p>
            <a:r>
              <a:rPr sz="1500">
                <a:solidFill>
                  <a:srgbClr val="1A2E4A"/>
                </a:solidFill>
              </a:rPr>
              <a:t>•  Pays ₪58 for a 3.1★ shawarma, returns late</a:t>
            </a:r>
          </a:p>
          <a:p>
            <a:r>
              <a:rPr sz="1500">
                <a:solidFill>
                  <a:srgbClr val="1A2E4A"/>
                </a:solidFill>
              </a:rPr>
              <a:t>•  Cognitive load: HIGH  ·  Satisfaction: 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63040"/>
            <a:ext cx="5577840" cy="4114800"/>
          </a:xfrm>
          <a:prstGeom prst="rect">
            <a:avLst/>
          </a:prstGeom>
          <a:solidFill>
            <a:srgbClr val="E8F8F5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</a:rPr>
              <a:t>✅  AFTER — Appetite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A2E4A"/>
                </a:solidFill>
              </a:rPr>
              <a:t>•  Same scenario. Eyal opens the app.</a:t>
            </a:r>
          </a:p>
          <a:p>
            <a:r>
              <a:rPr sz="1500">
                <a:solidFill>
                  <a:srgbClr val="1A2E4A"/>
                </a:solidFill>
              </a:rPr>
              <a:t>•  Selects Student persona → GPS fires</a:t>
            </a:r>
          </a:p>
          <a:p>
            <a:r>
              <a:rPr sz="1500">
                <a:solidFill>
                  <a:srgbClr val="1A2E4A"/>
                </a:solidFill>
              </a:rPr>
              <a:t>•  3 seconds: top-3 venues within 800 m</a:t>
            </a:r>
          </a:p>
          <a:p>
            <a:r>
              <a:rPr sz="1500">
                <a:solidFill>
                  <a:srgbClr val="1A2E4A"/>
                </a:solidFill>
              </a:rPr>
              <a:t>•  #1: 4.7★  ·  ₪47  ·  6-min walk</a:t>
            </a:r>
          </a:p>
          <a:p>
            <a:r>
              <a:rPr sz="1500">
                <a:solidFill>
                  <a:srgbClr val="1A2E4A"/>
                </a:solidFill>
              </a:rPr>
              <a:t>•  Pays ₪11 less, gets a better shawarma</a:t>
            </a:r>
          </a:p>
          <a:p>
            <a:r>
              <a:rPr sz="1500">
                <a:solidFill>
                  <a:srgbClr val="1A2E4A"/>
                </a:solidFill>
              </a:rPr>
              <a:t>•  Cognitive load: ZERO  ·  Satisfaction: 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32004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4A261"/>
                </a:solidFill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5669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6C757D"/>
                </a:solidFill>
              </a:rPr>
              <a:t>Value proposition: single-tap, persona-aware shawarma routing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A261"/>
                </a:solidFill>
              </a:rPr>
              <a:t>0:45 – 1:45  ·  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Literature &amp;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56692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E4A"/>
                </a:solidFill>
              </a:rPr>
              <a:t>📚  What the Literature Says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E4A"/>
                </a:solidFill>
              </a:rPr>
              <a:t>•  Bondevik 2024: 64.8% of food RS use ML — most non-personalized</a:t>
            </a:r>
          </a:p>
          <a:p>
            <a:r>
              <a:rPr sz="1400">
                <a:solidFill>
                  <a:srgbClr val="1A2E4A"/>
                </a:solidFill>
              </a:rPr>
              <a:t>•  Villegas 2018: location + time are the two dominant context signals</a:t>
            </a:r>
          </a:p>
          <a:p>
            <a:r>
              <a:rPr sz="1400">
                <a:solidFill>
                  <a:srgbClr val="1A2E4A"/>
                </a:solidFill>
              </a:rPr>
              <a:t>•  Asani 2021: clustering on multi-dim vectors → 92.8% Top-5 precision</a:t>
            </a:r>
          </a:p>
          <a:p>
            <a:r>
              <a:rPr sz="1400">
                <a:solidFill>
                  <a:srgbClr val="1A2E4A"/>
                </a:solidFill>
              </a:rPr>
              <a:t>•  Our gap: personalized K-Means on [price, rating, distance] is in the
high-value minority of food recommenders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17320"/>
            <a:ext cx="56692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E4A"/>
                </a:solidFill>
              </a:rPr>
              <a:t>🏪  Competitive Landscape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057400"/>
            <a:ext cx="5394960" cy="603504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057400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2057400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Exact 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2057400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ML Persona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41864" y="2057400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Walk-in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715768"/>
            <a:ext cx="539496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715768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Google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3528" y="2715768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715768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41864" y="2715768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Partial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374136"/>
            <a:ext cx="539496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374136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Wolt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3528" y="3374136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374136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Category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1864" y="3374136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032504"/>
            <a:ext cx="539496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4032504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TripAdvisor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3528" y="4032504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7696" y="4032504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Login hist.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41864" y="4032504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E4A"/>
                </a:solidFill>
              </a:rPr>
              <a:t>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690872"/>
            <a:ext cx="5394960" cy="603504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690872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A9D8F"/>
                </a:solidFill>
              </a:rPr>
              <a:t>⭐ Appetite Eng.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3528" y="4690872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A9D8F"/>
                </a:solidFill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97696" y="4690872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A9D8F"/>
                </a:solidFill>
              </a:rPr>
              <a:t>K-Means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41864" y="4690872"/>
            <a:ext cx="1344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A9D8F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A261"/>
                </a:solidFill>
              </a:rPr>
              <a:t>1:45 – 3:15  ·  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EDA — Exploratory Data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2743200" cy="11887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4A261"/>
                </a:solidFill>
              </a:rPr>
              <a:t>12,270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Clean venues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417320"/>
            <a:ext cx="2743200" cy="11887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463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4A261"/>
                </a:solidFill>
              </a:rPr>
              <a:t>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Israeli cities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2743200" cy="11887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463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4A261"/>
                </a:solidFill>
              </a:rPr>
              <a:t>₪46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Median price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1417320"/>
            <a:ext cx="2743200" cy="11887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20" y="1463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4A261"/>
                </a:solidFill>
              </a:rPr>
              <a:t>4.32★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Avg rating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88920"/>
            <a:ext cx="3749039" cy="361188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8803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A261"/>
                </a:solidFill>
              </a:rPr>
              <a:t>r = −0.06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3375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E4A"/>
                </a:solidFill>
              </a:rPr>
              <a:t>No price-quality
correlation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9319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E4A"/>
                </a:solidFill>
              </a:rPr>
              <a:t>A ₪58 shawarma is statistically no
better than a ₪44 one. Market is
informationally chaotic.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59" y="2788920"/>
            <a:ext cx="3749039" cy="361188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28803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A261"/>
                </a:solidFill>
              </a:rPr>
              <a:t>IQR = ₪5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19" y="33375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E4A"/>
                </a:solidFill>
              </a:rPr>
              <a:t>Prices cluster in
a narrow band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19" y="39319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E4A"/>
                </a:solidFill>
              </a:rPr>
              <a:t>50% of venues fall within ₪43–₪48.
Price alone cannot differentiate —
rating + distance must be weighted.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598" y="2788920"/>
            <a:ext cx="3749039" cy="361188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8" y="28803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A261"/>
                </a:solidFill>
              </a:rPr>
              <a:t>₪13.6 spread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8" y="33375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E4A"/>
                </a:solidFill>
              </a:rPr>
              <a:t>Geographic
arbitrage exists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8" y="39319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E4A"/>
                </a:solidFill>
              </a:rPr>
              <a:t>Average city price varies by ₪13.6.
Location is a meaningful signal —
the model needs coordinates.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C757D"/>
                </a:solidFill>
              </a:rPr>
              <a:t>Live dashboard: streamlit run app.py  →  EDA tab with interactive filters + map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A261"/>
                </a:solidFill>
              </a:rPr>
              <a:t>3:15 – 4:00  ·  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KPI &amp; Next Step → M3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3749039" cy="17373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4A261"/>
                </a:solidFill>
              </a:rPr>
              <a:t>≥ 0.45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402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Silhouette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5176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7D"/>
                </a:solidFill>
              </a:rPr>
              <a:t>vs. random ≈ 0.10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417320"/>
            <a:ext cx="3749039" cy="17373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59" y="150876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4A261"/>
                </a:solidFill>
              </a:rPr>
              <a:t>≥ 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22402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Persona Match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265176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7D"/>
                </a:solidFill>
              </a:rPr>
              <a:t>manual eval · 50 cases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417320"/>
            <a:ext cx="3749039" cy="17373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150876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4A261"/>
                </a:solidFill>
              </a:rPr>
              <a:t>&lt; 3 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2402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Response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8" y="265176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7D"/>
                </a:solidFill>
              </a:rPr>
              <a:t>GPS → ranked list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383280"/>
            <a:ext cx="53035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4747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</a:rPr>
              <a:t>Why Silhouette ≥ 0.45?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931920"/>
            <a:ext cx="51663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93192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E4A"/>
                </a:solidFill>
              </a:rPr>
              <a:t>&lt; 0.25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9319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E4A"/>
                </a:solidFill>
              </a:rPr>
              <a:t>Clusters overlap — no better than random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498848"/>
            <a:ext cx="51663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4988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E4A"/>
                </a:solidFill>
              </a:rPr>
              <a:t>0.25 – 0.45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49884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E4A"/>
                </a:solidFill>
              </a:rPr>
              <a:t>Weak structure — personas unreliable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065776"/>
            <a:ext cx="5166360" cy="530352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065776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</a:rPr>
              <a:t>≥ 0.45  ✓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06577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E4A"/>
                </a:solidFill>
              </a:rPr>
              <a:t>Clear separation — personas are actionable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632704"/>
            <a:ext cx="51663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632704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E4A"/>
                </a:solidFill>
              </a:rPr>
              <a:t>≥ 0.70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32704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E4A"/>
                </a:solidFill>
              </a:rPr>
              <a:t>Strong structure — price dominates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383280"/>
            <a:ext cx="594360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0" y="347472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</a:rPr>
              <a:t>🚀  M3 — What's Next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931920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2E4A"/>
                </a:solidFill>
              </a:rPr>
              <a:t>•  Normalize [price, rating, distance_km, ratings_count] with StandardScaler</a:t>
            </a:r>
          </a:p>
          <a:p>
            <a:r>
              <a:rPr sz="1300">
                <a:solidFill>
                  <a:srgbClr val="1A2E4A"/>
                </a:solidFill>
              </a:rPr>
              <a:t>•  Train K-Means: sweep k ∈ {3…8} via Elbow + Silhouette</a:t>
            </a:r>
          </a:p>
          <a:p>
            <a:r>
              <a:rPr sz="1300">
                <a:solidFill>
                  <a:srgbClr val="1A2E4A"/>
                </a:solidFill>
              </a:rPr>
              <a:t>•  Evaluate on 15% held-out test split → target Silhouette ≥ 0.45</a:t>
            </a:r>
          </a:p>
          <a:p>
            <a:r>
              <a:rPr sz="1300">
                <a:solidFill>
                  <a:srgbClr val="1A2E4A"/>
                </a:solidFill>
              </a:rPr>
              <a:t>•  Persona-weighted ranking: Student (Price ×1.5) vs Quality (Rating ×2.0)</a:t>
            </a:r>
          </a:p>
          <a:p>
            <a:r>
              <a:rPr sz="1300">
                <a:solidFill>
                  <a:srgbClr val="1A2E4A"/>
                </a:solidFill>
              </a:rPr>
              <a:t>•  Add Recommend tab: GPS input → ranked venue list in &lt; 3 sec</a:t>
            </a:r>
          </a:p>
          <a:p>
            <a:r>
              <a:rPr sz="1300">
                <a:solidFill>
                  <a:srgbClr val="1A2E4A"/>
                </a:solidFill>
              </a:rPr>
              <a:t>•  Beat baseline: naïve distance-only sort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