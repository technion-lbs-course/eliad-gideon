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1371600"/>
            <a:ext cx="54864" cy="3657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5200" b="1" i="0">
                <a:solidFill>
                  <a:srgbClr val="F0D080"/>
                </a:solidFill>
              </a:rPr>
              <a:t>הנדסת התיאבון: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31720"/>
            <a:ext cx="112745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400" b="1" i="0">
                <a:solidFill>
                  <a:srgbClr val="FFFFFF"/>
                </a:solidFill>
              </a:rPr>
              <a:t>מנתונים להחלטות בזמן אמת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42900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0">
                <a:solidFill>
                  <a:srgbClr val="8B8B8B"/>
                </a:solidFill>
              </a:rPr>
              <a:t>פיתוח אפליקציית ניווט והמלצות שווארמה מבוססת למידת מכונה (ML)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8B8B8B"/>
                </a:solidFill>
              </a:rPr>
              <a:t>גידי הורש ואליאד  ·  קורס LBS  ·  הטכניון  ·  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משולש התסכול של ארוחת הצוהריים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0" y="2560320"/>
            <a:ext cx="3017520" cy="1188720"/>
          </a:xfrm>
          <a:prstGeom prst="rect">
            <a:avLst/>
          </a:prstGeom>
          <a:solidFill>
            <a:srgbClr val="1A202C"/>
          </a:solidFill>
          <a:ln w="2540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6060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63A46"/>
                </a:solidFill>
              </a:rPr>
              <a:t>עומס קוגניטיבי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310896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על המשתמש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80160"/>
            <a:ext cx="2377440" cy="91440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9A84C"/>
                </a:solidFill>
              </a:rPr>
              <a:t>איכות מקסימלית
(דירוג גבוה)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80560"/>
            <a:ext cx="2377440" cy="914400"/>
          </a:xfrm>
          <a:prstGeom prst="rect">
            <a:avLst/>
          </a:prstGeom>
          <a:solidFill>
            <a:srgbClr val="1A202C"/>
          </a:solidFill>
          <a:ln w="1905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63A46"/>
                </a:solidFill>
              </a:rPr>
              <a:t>מרחק מינימלי
(רעב עכשיו)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4480560"/>
            <a:ext cx="2377440" cy="914400"/>
          </a:xfrm>
          <a:prstGeom prst="rect">
            <a:avLst/>
          </a:prstGeom>
          <a:solidFill>
            <a:srgbClr val="1A202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44805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מחיר מינימלי
(תקציב מוגבל)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0" y="1417320"/>
            <a:ext cx="2331720" cy="484632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84C"/>
                </a:solidFill>
              </a:rPr>
              <a:t>הבעיה: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1993392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המשתמש הרעב נדרש לעבד עשרות
אפשרויות בו-זמנית.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063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84C"/>
                </a:solidFill>
              </a:rPr>
              <a:t>המציאות: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410712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מציאת נקודת האיזון ידנית בזמן
אמת היא בלתי אפשרית.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4805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9A84C"/>
                </a:solidFill>
              </a:rPr>
              <a:t>התוצאה: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4828032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</a:rPr>
              <a:t>פשרות מאכזבות או תשלום יתר.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הפתרון: אקו-סיסטם של ניווט והמלצות חכמות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463040"/>
            <a:ext cx="2011680" cy="640080"/>
          </a:xfrm>
          <a:prstGeom prst="rect">
            <a:avLst/>
          </a:prstGeom>
          <a:solidFill>
            <a:srgbClr val="2A2208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</a:rPr>
              <a:t>התאמה אישית: 98%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743200"/>
            <a:ext cx="3200400" cy="2560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</a:rPr>
              <a:t>1. איסוף נתונים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קליטת מחירי מנות, דירוגים,
ומיקומים גיאוגרפיים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743200"/>
            <a:ext cx="3200400" cy="2560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</a:rPr>
              <a:t>2. מנוע ML חכם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4290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עיבוד הנתונים בזמן אמת
והתאמה אישית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43200"/>
            <a:ext cx="3200400" cy="2560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83464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9A84C"/>
                </a:solidFill>
              </a:rPr>
              <a:t>3. חוויית משתמש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4290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ממשק ניווט חלק המנחה
אל היעד האופטימלי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הכאוס של שוק השווארמה בישראל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8B8B8B"/>
                </a:solidFill>
              </a:rPr>
              <a:t>ניתוח נתוני בסיס — 12,270 מסעדות, 77 ערים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914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9A84C"/>
                </a:solidFill>
              </a:rPr>
              <a:t>דירוג משתמשים (1.0 עד 5.0) 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</a:rPr>
              <a:t>מחיר מוערך לפיתה (40 עד 60+ ש״ח)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798680" y="1833413"/>
            <a:ext cx="69953" cy="6995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13344" y="2130990"/>
            <a:ext cx="95499" cy="9549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04523" y="3357742"/>
            <a:ext cx="56498" cy="5649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7133" y="4049400"/>
            <a:ext cx="85656" cy="85656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79961" y="3830196"/>
            <a:ext cx="66958" cy="66958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91009" y="5075890"/>
            <a:ext cx="96495" cy="9649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55018" y="3044085"/>
            <a:ext cx="63394" cy="63394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3219" y="3196463"/>
            <a:ext cx="74559" cy="74559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21200" y="4837119"/>
            <a:ext cx="94900" cy="9490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98998" y="5279416"/>
            <a:ext cx="59187" cy="59187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264" y="4112772"/>
            <a:ext cx="102140" cy="10214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23343" y="2004485"/>
            <a:ext cx="91143" cy="91143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335" y="5022190"/>
            <a:ext cx="102402" cy="102402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89322" y="4178693"/>
            <a:ext cx="74880" cy="74880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90105" y="4311154"/>
            <a:ext cx="93368" cy="93368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5590" y="4076715"/>
            <a:ext cx="64253" cy="64253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31568" y="3512661"/>
            <a:ext cx="69674" cy="6967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77470" y="2580787"/>
            <a:ext cx="72655" cy="7265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9053" y="1860640"/>
            <a:ext cx="72171" cy="72171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43244" y="5244241"/>
            <a:ext cx="85981" cy="85981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4602" y="4254559"/>
            <a:ext cx="76569" cy="7656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95180" y="2754626"/>
            <a:ext cx="68394" cy="6839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17947" y="4606251"/>
            <a:ext cx="78369" cy="7836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3100" y="2579656"/>
            <a:ext cx="109592" cy="10959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4602" y="4639926"/>
            <a:ext cx="102107" cy="1021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05561" y="4779324"/>
            <a:ext cx="78025" cy="7802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19365" y="4025857"/>
            <a:ext cx="80543" cy="80543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76409" y="5043167"/>
            <a:ext cx="55493" cy="55493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19141" y="5135372"/>
            <a:ext cx="96060" cy="9606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72779" y="2864541"/>
            <a:ext cx="63541" cy="6354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42238" y="5101055"/>
            <a:ext cx="69314" cy="6931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51074" y="3687101"/>
            <a:ext cx="60702" cy="6070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48432" y="4191232"/>
            <a:ext cx="88274" cy="8827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35008" y="2357785"/>
            <a:ext cx="107176" cy="107176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67698" y="4037594"/>
            <a:ext cx="81670" cy="8167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50126" y="5112073"/>
            <a:ext cx="100492" cy="100492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89919" y="2662422"/>
            <a:ext cx="85991" cy="8599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94532" y="3603796"/>
            <a:ext cx="58661" cy="58661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81171" y="2230444"/>
            <a:ext cx="80939" cy="8093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12232" y="3763880"/>
            <a:ext cx="88144" cy="88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48687" y="4637940"/>
            <a:ext cx="92712" cy="9271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51583" y="5559211"/>
            <a:ext cx="90518" cy="90518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20960" y="3471283"/>
            <a:ext cx="68465" cy="6846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56536" y="3996747"/>
            <a:ext cx="67489" cy="6748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84690" y="4455808"/>
            <a:ext cx="58094" cy="5809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66086" y="5038772"/>
            <a:ext cx="58751" cy="5875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93236" y="3601584"/>
            <a:ext cx="84448" cy="84448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99990" y="3930439"/>
            <a:ext cx="80796" cy="80796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04989" y="2468625"/>
            <a:ext cx="60182" cy="60182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82542" y="3316190"/>
            <a:ext cx="102257" cy="10225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062458" y="5517026"/>
            <a:ext cx="60263" cy="60263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88767" y="4812019"/>
            <a:ext cx="60858" cy="6085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07179" y="3460251"/>
            <a:ext cx="78010" cy="78010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24530" y="5095805"/>
            <a:ext cx="58999" cy="5899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89785" y="4241909"/>
            <a:ext cx="84522" cy="845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60226" y="5295053"/>
            <a:ext cx="101426" cy="10142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87612" y="3586007"/>
            <a:ext cx="102302" cy="10230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108425" y="1745637"/>
            <a:ext cx="76284" cy="76284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045871" y="4412605"/>
            <a:ext cx="94942" cy="9494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73128" y="3606411"/>
            <a:ext cx="65282" cy="6528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357996" y="3961690"/>
            <a:ext cx="84610" cy="8461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66262" y="1929930"/>
            <a:ext cx="81022" cy="8102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52430" y="5427212"/>
            <a:ext cx="59259" cy="592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361375" y="1998362"/>
            <a:ext cx="102146" cy="102146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60606" y="5156490"/>
            <a:ext cx="68372" cy="68372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137688" y="2052215"/>
            <a:ext cx="90930" cy="9093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92076" y="5327080"/>
            <a:ext cx="66070" cy="6607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70762" y="2757447"/>
            <a:ext cx="62044" cy="6204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160497" y="2951632"/>
            <a:ext cx="96114" cy="9611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901203" y="4122909"/>
            <a:ext cx="85752" cy="857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98211" y="2555974"/>
            <a:ext cx="69413" cy="69413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75228" y="5114179"/>
            <a:ext cx="75137" cy="7513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234545" y="3823577"/>
            <a:ext cx="71461" cy="71461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39938" y="4302275"/>
            <a:ext cx="85291" cy="85291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33915" y="5109789"/>
            <a:ext cx="69373" cy="6937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599159" y="2334354"/>
            <a:ext cx="70322" cy="703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406368" y="2519271"/>
            <a:ext cx="89660" cy="89660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757041" y="2701786"/>
            <a:ext cx="104689" cy="10468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46180" y="3364094"/>
            <a:ext cx="70043" cy="7004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21334" y="2239770"/>
            <a:ext cx="108619" cy="10861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89943" y="3856077"/>
            <a:ext cx="78328" cy="783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98328" y="5366809"/>
            <a:ext cx="92776" cy="927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069345" y="4942605"/>
            <a:ext cx="86822" cy="868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169274" y="1898002"/>
            <a:ext cx="74870" cy="7487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815601" y="2544154"/>
            <a:ext cx="68554" cy="6855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77731" y="3887581"/>
            <a:ext cx="102854" cy="10285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654039" y="5292737"/>
            <a:ext cx="67852" cy="678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416263" y="4851112"/>
            <a:ext cx="103222" cy="1032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22862" y="5287834"/>
            <a:ext cx="97788" cy="97788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64092" y="5055780"/>
            <a:ext cx="99344" cy="99344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066149" y="4430604"/>
            <a:ext cx="75851" cy="7585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02130" y="2591612"/>
            <a:ext cx="99665" cy="99665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46485" y="4888613"/>
            <a:ext cx="102668" cy="1026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012729" y="2479071"/>
            <a:ext cx="72873" cy="7287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343848" y="2809333"/>
            <a:ext cx="90058" cy="90058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10286" y="4977423"/>
            <a:ext cx="73032" cy="730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25282" y="5464164"/>
            <a:ext cx="64660" cy="64660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126150" y="4028479"/>
            <a:ext cx="73829" cy="73829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220627" y="5517298"/>
            <a:ext cx="61208" cy="61208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306168" y="1907825"/>
            <a:ext cx="78787" cy="78787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022740" y="3805274"/>
            <a:ext cx="94334" cy="9433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557351" y="2494069"/>
            <a:ext cx="78526" cy="78526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8985399" y="4130575"/>
            <a:ext cx="91260" cy="912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423018" y="2890741"/>
            <a:ext cx="71832" cy="71832"/>
          </a:xfrm>
          <a:prstGeom prst="rect">
            <a:avLst/>
          </a:prstGeom>
          <a:solidFill>
            <a:srgbClr val="F0C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364024" y="4414974"/>
            <a:ext cx="85281" cy="8528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096677" y="5348807"/>
            <a:ext cx="92024" cy="9202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612828" y="2893151"/>
            <a:ext cx="84926" cy="8492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190637" y="2544562"/>
            <a:ext cx="97973" cy="97973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917433" y="3523137"/>
            <a:ext cx="79122" cy="7912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801848" y="4785684"/>
            <a:ext cx="107524" cy="107524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147709" y="2063015"/>
            <a:ext cx="83143" cy="83143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641942" y="2096011"/>
            <a:ext cx="107094" cy="10709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58037" y="2600087"/>
            <a:ext cx="65789" cy="6578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187991" y="5516146"/>
            <a:ext cx="88400" cy="88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368476" y="5140551"/>
            <a:ext cx="86447" cy="86447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241143" y="3636005"/>
            <a:ext cx="68249" cy="6824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173276" y="5165602"/>
            <a:ext cx="102071" cy="10207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878994" y="2577815"/>
            <a:ext cx="98980" cy="98980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854574" y="1930222"/>
            <a:ext cx="68536" cy="685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376603" y="4815184"/>
            <a:ext cx="91489" cy="91489"/>
          </a:xfrm>
          <a:prstGeom prst="rect">
            <a:avLst/>
          </a:prstGeom>
          <a:solidFill>
            <a:srgbClr val="E0B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286000" y="1828800"/>
            <a:ext cx="2011680" cy="548640"/>
          </a:xfrm>
          <a:prstGeom prst="rect">
            <a:avLst/>
          </a:prstGeom>
          <a:solidFill>
            <a:srgbClr val="2A220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286000" y="18288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</a:rPr>
              <a:t>אזור הזהב — קשה לאיתור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72400" y="3657600"/>
            <a:ext cx="2103120" cy="548640"/>
          </a:xfrm>
          <a:prstGeom prst="rect">
            <a:avLst/>
          </a:prstGeom>
          <a:solidFill>
            <a:srgbClr val="300808"/>
          </a:solidFill>
          <a:ln w="1270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72400" y="36576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3A46"/>
                </a:solidFill>
              </a:rPr>
              <a:t>מלכודות תיירים — סכנה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5760720"/>
            <a:ext cx="11457432" cy="68580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57607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טווח המחירים בישראל נע בין 40 ל-60 שקלים לפיתה, ללא קורלציה ישירה לאיכות (r=−0.06). הנתונים מחייבים סדר אלגוריתמי.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אתגר ה-ML: למה בחרנו באפשרות ב׳ (Clustering)?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1417320"/>
            <a:ext cx="5303520" cy="4754880"/>
          </a:xfrm>
          <a:prstGeom prst="rect">
            <a:avLst/>
          </a:prstGeom>
          <a:solidFill>
            <a:srgbClr val="200808"/>
          </a:solidFill>
          <a:ln w="2540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5087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E63A46"/>
                </a:solidFill>
              </a:rPr>
              <a:t>אפשרות א׳: סינון קונבנציונלי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14884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שיטה: חיתוך יבש (למשל:
'הראה לי מקומות מתחת ל-50 ש״ח').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0632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חסרון: מתעלם מהקשר (Context).
עלול להציג מקומות זולים אך גרועים,
או לפספס מקום מעולה ב-51 ש״ח.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486400" cy="4754880"/>
          </a:xfrm>
          <a:prstGeom prst="rect">
            <a:avLst/>
          </a:prstGeom>
          <a:solidFill>
            <a:srgbClr val="2A2208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9A84C"/>
                </a:solidFill>
              </a:rPr>
              <a:t>אפשרות ב׳: מערכת המלצות (Clustering)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שיטה: אלגוריתם Clustering המחלק
את בתי העסק לפרופילים של ערך.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יתרון: לומד את היחס המורכב בין
מחיר לדירוג, ומתאים את התוצאה
לארכיטיפ המשתמש בצורה הוליסטית.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מאלגוריתם למוצר: אשכולות משתמשים (Personas)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394960" cy="4846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C9A84C"/>
                </a:solidFill>
              </a:rPr>
              <a:t>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</a:rPr>
              <a:t>חובב האיכות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7180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לוגיקת אלגוריתם: אדישות למחיר,
משקל מקסימלי לדירוג (4.8 – 5.0 בלבד).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062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המטרה: חוויה קולינרית מושלמת,
גם אם הפיתה עולה 60 ש״ח
ומצריכה נסיעה.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17320"/>
            <a:ext cx="5394960" cy="4846320"/>
          </a:xfrm>
          <a:prstGeom prst="rect">
            <a:avLst/>
          </a:prstGeom>
          <a:solidFill>
            <a:srgbClr val="1A202C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C9A84C"/>
                </a:solidFill>
              </a:rPr>
              <a:t>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הסטודנט החסכן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7180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0632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FFFFFF"/>
                </a:solidFill>
              </a:rPr>
              <a:t>לוגיקת אלגוריתם: משקל גבוה למחיר
(מתחת ל-45 ש״ח), סף מינימלי
לאיכות (דירוג מעל 4.0).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2062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B8B8B"/>
                </a:solidFill>
              </a:rPr>
              <a:t>המטרה: מקסימום קלוריות פר שקל,
ללא התפשרות קיצונית על טעם.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המודל בפעולה: מבחן המציאות בתל אביב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5394960" cy="3840480"/>
          </a:xfrm>
          <a:prstGeom prst="rect">
            <a:avLst/>
          </a:prstGeom>
          <a:solidFill>
            <a:srgbClr val="2A2208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9A84C"/>
                </a:solidFill>
              </a:rPr>
              <a:t>שווארמה מספר אחד (תל אביב)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C9A84C"/>
                </a:solidFill>
              </a:rPr>
              <a:t>★★★★★  דירוג: 5.0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מחיר מנה: 51 ש״ח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מנצח האלגוריתם: איכות מקסימלית
במחיר הוגן.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5394960" cy="3840480"/>
          </a:xfrm>
          <a:prstGeom prst="rect">
            <a:avLst/>
          </a:prstGeom>
          <a:solidFill>
            <a:srgbClr val="200808"/>
          </a:solidFill>
          <a:ln w="2540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E63A46"/>
                </a:solidFill>
              </a:rPr>
              <a:t>הגלגל של שרדר (תל אביב)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E63A46"/>
                </a:solidFill>
              </a:rPr>
              <a:t>★★★☆☆  דירוג: 3.1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651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0" i="0">
                <a:solidFill>
                  <a:srgbClr val="FFFFFF"/>
                </a:solidFill>
              </a:rPr>
              <a:t>מחיר מנה: 58 ש״ח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0896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</a:rPr>
              <a:t>מלכודת: יקר יותר, איכות ירודה.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486400"/>
            <a:ext cx="11457432" cy="822960"/>
          </a:xfrm>
          <a:prstGeom prst="rect">
            <a:avLst/>
          </a:prstGeom>
          <a:solidFill>
            <a:srgbClr val="1A202C"/>
          </a:solidFill>
          <a:ln w="12700">
            <a:solidFill>
              <a:srgbClr val="E63A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500" b="1" i="0">
                <a:solidFill>
                  <a:srgbClr val="FFFFFF"/>
                </a:solidFill>
              </a:rPr>
              <a:t>⚠  ללא המערכת, משתמש עלול לשלם 7 שקלים יותר על חוויה גרועה משמעותית.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F0D080"/>
                </a:solidFill>
              </a:rPr>
              <a:t>מנתונים לאפליקציה חינמית: תוכנית עבודה וסיכום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11064240" cy="3200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971800"/>
            <a:ext cx="18288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" y="1417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" y="187451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הנדסת נתונים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" y="37033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8B8B"/>
                </a:solidFill>
              </a:rPr>
              <a:t>ניקוי מסד הנתונים והשלמת
משלמת מחירים חסרים.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971800"/>
            <a:ext cx="18288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417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</a:rPr>
              <a:t>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87451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אימון מודל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7033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8B8B"/>
                </a:solidFill>
              </a:rPr>
              <a:t>פיתוח מודל Clustering
ויצירת פרופילי המלצה.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71800"/>
            <a:ext cx="18288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417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</a:rPr>
              <a:t>75%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87451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UI/UX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7033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8B8B"/>
                </a:solidFill>
              </a:rPr>
              <a:t>עיצוב הממשק ושילוב
מפות (Geolocation).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2971800"/>
            <a:ext cx="182880" cy="5943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14173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9A84C"/>
                </a:solidFill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7451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השקה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7033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B8B8B"/>
                </a:solidFill>
              </a:rPr>
              <a:t>בטא סגורה ברחבי הארץ
ושחרור רשמי.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54880"/>
            <a:ext cx="11457432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4632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0D080"/>
                </a:solidFill>
              </a:rPr>
              <a:t>היעד: הפסקת הצוהריים המושלמת, במרחק קליק אחד.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2743200" cy="10058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623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12,270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8B8B"/>
                </a:solidFill>
              </a:rPr>
              <a:t>מסעדות במאגר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5577840"/>
            <a:ext cx="2743200" cy="10058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5623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6126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8B8B"/>
                </a:solidFill>
              </a:rPr>
              <a:t>ערים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577840"/>
            <a:ext cx="2743200" cy="10058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5623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≥ 0.45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6126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8B8B"/>
                </a:solidFill>
              </a:rPr>
              <a:t>Silhouette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5577840"/>
            <a:ext cx="2743200" cy="1005840"/>
          </a:xfrm>
          <a:prstGeom prst="rect">
            <a:avLst/>
          </a:prstGeom>
          <a:solidFill>
            <a:srgbClr val="1A202C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5623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9A84C"/>
                </a:solidFill>
              </a:rPr>
              <a:t>&lt; 3s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126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8B8B"/>
                </a:solidFill>
              </a:rPr>
              <a:t>זמן תגובה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