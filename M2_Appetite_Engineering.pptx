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188720"/>
            <a:ext cx="64008" cy="4114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0D080"/>
                </a:solidFill>
              </a:rPr>
              <a:t>Appetite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הנדסת התיאבון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15468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B8B8B"/>
                </a:solidFill>
              </a:rPr>
              <a:t>ML-powered shawarma navigation — find the best spot near you in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212080"/>
            <a:ext cx="2743200" cy="132588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5257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0:00–0:45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60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Problem &amp;
Value Prop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5212080"/>
            <a:ext cx="2743200" cy="132588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5257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0:45–1:45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5760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Literature
&amp; Market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5212080"/>
            <a:ext cx="2743200" cy="132588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5257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1:45–3:15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5760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EDA &amp;
Insights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5212080"/>
            <a:ext cx="2743200" cy="132588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6296" y="5257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3:15–4:00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760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KPI &amp;
Next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B8B"/>
                </a:solidFill>
              </a:rPr>
              <a:t>Gidi Horesh &amp; Eliad  ·  Technion LBS Course  ·  M2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0:00 – 0:45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2860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8B8B"/>
                </a:solidFill>
              </a:rPr>
              <a:t>Section 1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0D080"/>
                </a:solidFill>
              </a:rPr>
              <a:t>Problem &amp; Value Proposition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5394960" cy="4480560"/>
          </a:xfrm>
          <a:prstGeom prst="rect">
            <a:avLst/>
          </a:prstGeom>
          <a:solidFill>
            <a:srgbClr val="250808"/>
          </a:solidFill>
          <a:ln w="1905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63A46"/>
                </a:solidFill>
              </a:rPr>
              <a:t>❌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5120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You're in a city. It's lunchtime. You want shawarma.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2"/>
            <a:ext cx="5120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Google Maps returns 50+ results — no price, no real ranking.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00984"/>
            <a:ext cx="5120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You don't know which ones are truly close AND good.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94176"/>
            <a:ext cx="5120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You end up picking a familiar name, overpay by ₪7-11,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87368"/>
            <a:ext cx="5120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and get a mediocre experience.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5120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73752"/>
            <a:ext cx="5120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Finding a high-quality, nearby shawarma with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66944"/>
            <a:ext cx="5120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minimum effort is unsolved.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828800"/>
            <a:ext cx="5486400" cy="4480560"/>
          </a:xfrm>
          <a:prstGeom prst="rect">
            <a:avLst/>
          </a:prstGeom>
          <a:solidFill>
            <a:srgbClr val="2A2208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202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</a:rPr>
              <a:t>✅  Value Proposition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56032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D080"/>
                </a:solidFill>
              </a:rPr>
              <a:t>One tap. Best shawarma near you.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246120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</a:rPr>
              <a:t>🎯  Relevant: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246120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Only shawarma — no generic restaurant noise.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85032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</a:rPr>
              <a:t>⚡  Fast: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3685032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GPS + ML ranking in under 3 seconds.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123944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</a:rPr>
              <a:t>💎  Quality: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123944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Sorted by rating × price × distance combined.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562856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</a:rPr>
              <a:t>📍  Nearby: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562856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Real distance from where you are right now.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01768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</a:rPr>
              <a:t>🏆  Best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5001768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No compromise — quality AND price optimized.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0:45 – 1:45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2860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8B8B"/>
                </a:solidFill>
              </a:rPr>
              <a:t>Section 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0D080"/>
                </a:solidFill>
              </a:rPr>
              <a:t>Literature Review — What the Research Tells 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457200" cy="14173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24028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117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954512" cy="1417320"/>
          </a:xfrm>
          <a:prstGeom prst="rect">
            <a:avLst/>
          </a:prstGeom>
          <a:solidFill>
            <a:srgbClr val="1A202C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2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</a:rPr>
              <a:t>Food &amp; Sentiment Are Directly Linked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860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8B8B"/>
                </a:solidFill>
              </a:rPr>
              <a:t>Asani et al. (2021) — Restaurant Recommender via Sentiment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78608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User ratings and reviews carry strong emotional signals. Sentiment-based scoring outperforms star-count alone.
→ Our model incorporates rating as a quality proxy for sentiment — a high rating reflects genuine satisfaction, not just popularity.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01568"/>
            <a:ext cx="457200" cy="1417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813048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117"/>
                </a:solidFill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401568"/>
            <a:ext cx="10954512" cy="14173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447288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</a:rPr>
              <a:t>Food RS Are Good — But Fail on Specific Food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8587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8B8B"/>
                </a:solidFill>
              </a:rPr>
              <a:t>Bondevik et al. (2024) — Systematic Review of Food Recommender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51376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64.8% of food RS use ML, yet most target broad restaurant categories. Niche food types (e.g. shawarma) are underserved — generic systems dilute results with irrelevant options.
→ Specializing on shawarma gives us a signal-to-noise advantage over every general-purpose platform.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74336"/>
            <a:ext cx="457200" cy="1417320"/>
          </a:xfrm>
          <a:prstGeom prst="rect">
            <a:avLst/>
          </a:prstGeom>
          <a:solidFill>
            <a:srgbClr val="5B8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385816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117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974336"/>
            <a:ext cx="10954512" cy="1417320"/>
          </a:xfrm>
          <a:prstGeom prst="rect">
            <a:avLst/>
          </a:prstGeom>
          <a:solidFill>
            <a:srgbClr val="1A202C"/>
          </a:solidFill>
          <a:ln w="19050">
            <a:solidFill>
              <a:srgbClr val="5B8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0056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8DE0"/>
                </a:solidFill>
              </a:rPr>
              <a:t>FRS Do Not Account for User Preferences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3153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8B8B"/>
                </a:solidFill>
              </a:rPr>
              <a:t>Villegas et al. (2018) — Context-Aware Recommender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724144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74% of context-aware RS use contextual modeling yet still ignore real-time user constraints (budget, distance tolerance, quality floor). Static filters miss the dynamic trade-off each user faces.
→ Our ML ranking fuses price + rating + distance into a single preference-aware score — no static filter required.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0:45 – 1:45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2860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8B8B"/>
                </a:solidFill>
              </a:rPr>
              <a:t>Section 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0D080"/>
                </a:solidFill>
              </a:rPr>
              <a:t>Market &amp; Competition — Where We 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1920240" cy="50292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920240"/>
            <a:ext cx="1554480" cy="50292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9476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Exact ₪ Price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920240"/>
            <a:ext cx="1920240" cy="50292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Shawarma-Specific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920240"/>
            <a:ext cx="1554480" cy="50292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9476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Real-Time GPS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920240"/>
            <a:ext cx="1554480" cy="50292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19476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ML Ranking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1920240"/>
            <a:ext cx="2377440" cy="50292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19476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Optimizes For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514600"/>
            <a:ext cx="11457432" cy="62179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606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Google Maps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606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63A46"/>
                </a:solidFill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2606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✗ (all food)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2606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A9D8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606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63A46"/>
                </a:solidFill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Ad engagement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172968"/>
            <a:ext cx="11457432" cy="62179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2644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Wolt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326440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A9D8F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2644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✗ (delivery)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326440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63A46"/>
                </a:solidFill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326440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264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Commission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831336"/>
            <a:ext cx="11457432" cy="62179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92277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Ten Bis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392277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A9D8F"/>
                </a:solidFill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86200" y="392277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✗ (delivery)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392277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63A46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392277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Delivery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392277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Commission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489704"/>
            <a:ext cx="11457432" cy="621792"/>
          </a:xfrm>
          <a:prstGeom prst="rect">
            <a:avLst/>
          </a:prstGeom>
          <a:solidFill>
            <a:srgbClr val="2A2208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58114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D080"/>
                </a:solidFill>
              </a:rPr>
              <a:t>⭐ Appetite Engineering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31720" y="458114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D080"/>
                </a:solidFill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458114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D080"/>
                </a:solidFill>
              </a:rPr>
              <a:t>✓ Shawarma 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06440" y="458114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D080"/>
                </a:solidFill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458114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D080"/>
                </a:solidFill>
              </a:rPr>
              <a:t>K-Means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15400" y="458114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D080"/>
                </a:solidFill>
              </a:rPr>
              <a:t>User value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440680"/>
            <a:ext cx="11457432" cy="100584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532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</a:rPr>
              <a:t>Our Differentiator: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553212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The only platform combining exact NIS prices + shawarma-only filtering + real-time geolocation + ML persona-free ranking — targeting the specific Israeli cultural value of the shawarma experience.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1:45 – 3:15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2860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8B8B"/>
                </a:solidFill>
              </a:rPr>
              <a:t>Section 3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0D080"/>
                </a:solidFill>
              </a:rPr>
              <a:t>EDA &amp; Data Insights — What the Data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2240280" cy="114300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12,270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2316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Venues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249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B8B"/>
                </a:solidFill>
              </a:rPr>
              <a:t>after deduplication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4912" y="1828800"/>
            <a:ext cx="2240280" cy="114300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24912" y="1874519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42316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249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B8B"/>
                </a:solidFill>
              </a:rPr>
              <a:t>across Israel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84064" y="1828800"/>
            <a:ext cx="2240280" cy="114300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4064" y="1874519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₪46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242316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Median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7249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B8B"/>
                </a:solidFill>
              </a:rPr>
              <a:t>Turkey shawarma pita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43216" y="1828800"/>
            <a:ext cx="2240280" cy="114300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3216" y="1874519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4.32★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3216" y="242316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Avg rating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3216" y="27249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B8B"/>
                </a:solidFill>
              </a:rPr>
              <a:t>across all venues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1828800"/>
            <a:ext cx="2240280" cy="114300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2368" y="1874519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r=−0.06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8" y="242316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Price↔Quality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27249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B8B"/>
                </a:solidFill>
              </a:rPr>
              <a:t>no correlation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154680"/>
            <a:ext cx="5029200" cy="333756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200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Price vs. Rating — The Chaos (r = −0.06)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3657600"/>
            <a:ext cx="548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B8B"/>
                </a:solidFill>
              </a:rPr>
              <a:t>Rating 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6217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B8B"/>
                </a:solidFill>
              </a:rPr>
              <a:t>Price (₪) 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91233" y="3626765"/>
            <a:ext cx="60351" cy="6035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34290" y="3814522"/>
            <a:ext cx="77382" cy="77382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317855" y="4588544"/>
            <a:ext cx="51381" cy="5138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17473" y="5024947"/>
            <a:ext cx="70820" cy="70820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4264" y="4886640"/>
            <a:ext cx="58354" cy="58354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04819" y="5672613"/>
            <a:ext cx="78046" cy="7804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32823" y="4390641"/>
            <a:ext cx="55978" cy="55978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380694" y="4486784"/>
            <a:ext cx="63422" cy="63422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4331" y="5521960"/>
            <a:ext cx="76982" cy="76982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73754" y="5801029"/>
            <a:ext cx="53174" cy="53174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72954" y="5064932"/>
            <a:ext cx="81809" cy="81809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51349" y="3734703"/>
            <a:ext cx="74478" cy="74478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14109" y="5638731"/>
            <a:ext cx="81984" cy="81984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03925" y="5106525"/>
            <a:ext cx="63636" cy="63636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21987" y="5190101"/>
            <a:ext cx="75961" cy="75961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26656" y="5042181"/>
            <a:ext cx="56551" cy="56551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967467" y="4686290"/>
            <a:ext cx="60165" cy="6016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91768" y="4098322"/>
            <a:ext cx="62152" cy="62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02607" y="3643944"/>
            <a:ext cx="61830" cy="61830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32472" y="5778834"/>
            <a:ext cx="71037" cy="71037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54956" y="5154392"/>
            <a:ext cx="64762" cy="64762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48203" y="4208007"/>
            <a:ext cx="59312" cy="59312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77903" y="5376293"/>
            <a:ext cx="65962" cy="65962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603573" y="4097609"/>
            <a:ext cx="86777" cy="86777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990838" y="5397541"/>
            <a:ext cx="81787" cy="8178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541934" y="5485495"/>
            <a:ext cx="65732" cy="657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43360" y="5010093"/>
            <a:ext cx="67411" cy="67411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955913" y="5651966"/>
            <a:ext cx="50711" cy="50711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1477" y="5710143"/>
            <a:ext cx="77756" cy="77756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359874" y="4277357"/>
            <a:ext cx="56076" cy="560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84881" y="5688491"/>
            <a:ext cx="59925" cy="5992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5442" y="4796353"/>
            <a:ext cx="54184" cy="54184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188160" y="5114436"/>
            <a:ext cx="72565" cy="7256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498700" y="3957619"/>
            <a:ext cx="85167" cy="85167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39537" y="5017498"/>
            <a:ext cx="68163" cy="6816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783174" y="5695443"/>
            <a:ext cx="80710" cy="80710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945418" y="4149830"/>
            <a:ext cx="71043" cy="7104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312566" y="4743792"/>
            <a:ext cx="52823" cy="52823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11375" y="3877273"/>
            <a:ext cx="67675" cy="6767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639584" y="4844798"/>
            <a:ext cx="72478" cy="7247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82413" y="5396288"/>
            <a:ext cx="75524" cy="75524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242770" y="5977566"/>
            <a:ext cx="74061" cy="74061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61852" y="4660183"/>
            <a:ext cx="59359" cy="593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351274" y="4991726"/>
            <a:ext cx="58708" cy="587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89708" y="5281371"/>
            <a:ext cx="52445" cy="524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685742" y="5649194"/>
            <a:ext cx="52883" cy="5288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05998" y="4742396"/>
            <a:ext cx="70015" cy="7001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809573" y="4949888"/>
            <a:ext cx="67580" cy="67580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282808" y="4027553"/>
            <a:ext cx="53837" cy="53837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417983" y="4562326"/>
            <a:ext cx="81887" cy="8188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730880" y="5950949"/>
            <a:ext cx="53891" cy="53891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956573" y="5506123"/>
            <a:ext cx="54288" cy="54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742791" y="4653222"/>
            <a:ext cx="65722" cy="65722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63741" y="5685179"/>
            <a:ext cx="53049" cy="53049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362994" y="5146411"/>
            <a:ext cx="70064" cy="700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947345" y="5810895"/>
            <a:ext cx="81333" cy="81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632432" y="4732568"/>
            <a:ext cx="81917" cy="8191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637568" y="3571382"/>
            <a:ext cx="64572" cy="64572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33863" y="5254112"/>
            <a:ext cx="77010" cy="77010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683588" y="4745442"/>
            <a:ext cx="57237" cy="5723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46165" y="4969606"/>
            <a:ext cx="70123" cy="70123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250541" y="3687662"/>
            <a:ext cx="67731" cy="67731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07924" y="5894281"/>
            <a:ext cx="53222" cy="5322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42071" y="3730840"/>
            <a:ext cx="81813" cy="81813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453429" y="5723468"/>
            <a:ext cx="59297" cy="59297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23648" y="3764818"/>
            <a:ext cx="74336" cy="74336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111266" y="5831102"/>
            <a:ext cx="57762" cy="57762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252923" y="4209786"/>
            <a:ext cx="55079" cy="55079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94547" y="4332307"/>
            <a:ext cx="77792" cy="777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98451" y="5071328"/>
            <a:ext cx="70884" cy="7088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61573" y="4082667"/>
            <a:ext cx="59991" cy="59991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584699" y="5696772"/>
            <a:ext cx="63807" cy="63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63161" y="4882464"/>
            <a:ext cx="61356" cy="61356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136605" y="5184499"/>
            <a:ext cx="70577" cy="70577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86357" y="5694002"/>
            <a:ext cx="59965" cy="5996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015016" y="3942835"/>
            <a:ext cx="60597" cy="6059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912950" y="4059508"/>
            <a:ext cx="73489" cy="73489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039777" y="4174666"/>
            <a:ext cx="83508" cy="835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339909" y="4592551"/>
            <a:ext cx="60411" cy="6041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332638" y="3883156"/>
            <a:ext cx="86129" cy="8612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10136" y="4902969"/>
            <a:ext cx="65935" cy="6593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420458" y="5856169"/>
            <a:ext cx="75566" cy="755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205114" y="5588517"/>
            <a:ext cx="71597" cy="7159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728606" y="3667518"/>
            <a:ext cx="63629" cy="6362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59015" y="4075209"/>
            <a:ext cx="59418" cy="5941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415436" y="4922847"/>
            <a:ext cx="82285" cy="8228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044070" y="5809433"/>
            <a:ext cx="58950" cy="589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77012" y="5530789"/>
            <a:ext cx="82530" cy="8253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698153" y="5806340"/>
            <a:ext cx="78908" cy="78908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61157" y="5659925"/>
            <a:ext cx="79945" cy="79945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15187" y="5265469"/>
            <a:ext cx="64283" cy="6428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93059" y="4105152"/>
            <a:ext cx="80159" cy="80159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398894" y="5554450"/>
            <a:ext cx="82161" cy="8216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7494" y="4034144"/>
            <a:ext cx="62298" cy="6229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38675" y="4242524"/>
            <a:ext cx="73754" cy="73754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756201" y="5610485"/>
            <a:ext cx="62404" cy="624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34728" y="5917595"/>
            <a:ext cx="56823" cy="56823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17540" y="5011747"/>
            <a:ext cx="62935" cy="62935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755793" y="5951120"/>
            <a:ext cx="54521" cy="54521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742256" y="3673715"/>
            <a:ext cx="66241" cy="66241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768676" y="4870915"/>
            <a:ext cx="76605" cy="7660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992882" y="4043607"/>
            <a:ext cx="66067" cy="66067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748907" y="5076165"/>
            <a:ext cx="74556" cy="745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921764" y="4293888"/>
            <a:ext cx="61604" cy="61604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302297" y="5255607"/>
            <a:ext cx="70570" cy="7057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690172" y="5844811"/>
            <a:ext cx="75065" cy="7506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492840" y="4295409"/>
            <a:ext cx="70333" cy="70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210504" y="4075466"/>
            <a:ext cx="79031" cy="79031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654102" y="4692900"/>
            <a:ext cx="66464" cy="6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063498" y="5489507"/>
            <a:ext cx="85398" cy="85398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658366" y="3771633"/>
            <a:ext cx="69145" cy="6914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08254" y="3792452"/>
            <a:ext cx="85112" cy="851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728539" y="4110500"/>
            <a:ext cx="57575" cy="5757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50280" y="5950394"/>
            <a:ext cx="72649" cy="7264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834066" y="5713411"/>
            <a:ext cx="71347" cy="71347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5478" y="4764114"/>
            <a:ext cx="59215" cy="5921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789548" y="5729217"/>
            <a:ext cx="81763" cy="8176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163164" y="4096447"/>
            <a:ext cx="79703" cy="79703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091412" y="3687847"/>
            <a:ext cx="59406" cy="5940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38369" y="5508120"/>
            <a:ext cx="74709" cy="74709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410287" y="5868257"/>
            <a:ext cx="82896" cy="82896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313708" y="5727667"/>
            <a:ext cx="65900" cy="65900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794965" y="3951825"/>
            <a:ext cx="81802" cy="81802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026641" y="4165261"/>
            <a:ext cx="73615" cy="7361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954139" y="4145891"/>
            <a:ext cx="66380" cy="66380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135834" y="4224569"/>
            <a:ext cx="61985" cy="61985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291680" y="3931646"/>
            <a:ext cx="64301" cy="6430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866893" y="3721796"/>
            <a:ext cx="65200" cy="65200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877305" y="3717039"/>
            <a:ext cx="80755" cy="80755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683349" y="4981477"/>
            <a:ext cx="75731" cy="75731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525311" y="3580447"/>
            <a:ext cx="63157" cy="63157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471887" y="5876474"/>
            <a:ext cx="65618" cy="65618"/>
          </a:xfrm>
          <a:prstGeom prst="rect">
            <a:avLst/>
          </a:prstGeom>
          <a:solidFill>
            <a:srgbClr val="D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982992" y="5504368"/>
            <a:ext cx="83130" cy="83130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862996" y="4622260"/>
            <a:ext cx="51353" cy="51353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712401" y="5500186"/>
            <a:ext cx="76779" cy="76779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743849" y="5942606"/>
            <a:ext cx="69828" cy="69828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395640" y="5172714"/>
            <a:ext cx="53362" cy="53362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18496" y="4684929"/>
            <a:ext cx="52131" cy="52131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307110" y="4667969"/>
            <a:ext cx="62636" cy="62636"/>
          </a:xfrm>
          <a:prstGeom prst="rect">
            <a:avLst/>
          </a:prstGeom>
          <a:solidFill>
            <a:srgbClr val="E0B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105090" y="5871079"/>
            <a:ext cx="65711" cy="6571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14400" y="617220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63A46"/>
                </a:solidFill>
              </a:rPr>
              <a:t>Trend line: nearly flat (r = −0.06)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69280" y="3154680"/>
            <a:ext cx="6126480" cy="1051560"/>
          </a:xfrm>
          <a:prstGeom prst="rect">
            <a:avLst/>
          </a:prstGeom>
          <a:solidFill>
            <a:srgbClr val="1A202C"/>
          </a:solidFill>
          <a:ln w="1905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806440" y="32004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3A46"/>
                </a:solidFill>
              </a:rPr>
              <a:t>💡 Insight 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806440" y="320040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No Price–Quality Link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806440" y="3566160"/>
            <a:ext cx="5852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8B8B"/>
                </a:solidFill>
              </a:rPr>
              <a:t>r = −0.06. A ₪58 shawarma is
statistically no better than ₪44.
Price alone is a useless filter.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5669280" y="4297680"/>
            <a:ext cx="6126480" cy="105156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806440" y="43434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</a:rPr>
              <a:t>💡 Insight 2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806440" y="434340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Prices Cluster Narrowly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806440" y="4709160"/>
            <a:ext cx="5852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8B8B"/>
                </a:solidFill>
              </a:rPr>
              <a:t>IQR = only ₪5 (₪43–₪48).
50% of venues within 5 NIS.
Rating + distance must be added.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669280" y="5440680"/>
            <a:ext cx="6126480" cy="1051560"/>
          </a:xfrm>
          <a:prstGeom prst="rect">
            <a:avLst/>
          </a:prstGeom>
          <a:solidFill>
            <a:srgbClr val="1A202C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806440" y="54864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</a:rPr>
              <a:t>💡 Insight 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806440" y="548640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Geographic Arbitrage: ₪13.6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806440" y="5852160"/>
            <a:ext cx="5852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8B8B"/>
                </a:solidFill>
              </a:rPr>
              <a:t>City-level avg price varies ₪13.6.
Location is a meaningful signal.
Coordinates are essential.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3:15 – 4:00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2860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8B8B"/>
                </a:solidFill>
              </a:rPr>
              <a:t>Section 4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0D080"/>
                </a:solidFill>
              </a:rPr>
              <a:t>KPI &amp; Next Steps — What We Are Building in M3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3749039" cy="178308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</a:rPr>
              <a:t>≥ 0.45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Silhouette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2724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8B8B"/>
                </a:solidFill>
              </a:rPr>
              <a:t>Cluster quality target
vs. random ≈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3" y="1828800"/>
            <a:ext cx="3749039" cy="178308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3" y="192024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</a:rPr>
              <a:t>≥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3" y="265176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Recommendation
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3" y="312724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8B8B"/>
                </a:solidFill>
              </a:rPr>
              <a:t>Manual eval on
50 test cases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6" y="1828800"/>
            <a:ext cx="3749039" cy="178308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6" y="192024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</a:rPr>
              <a:t>&lt; 3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6" y="265176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Response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6" y="312724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8B8B"/>
                </a:solidFill>
              </a:rPr>
              <a:t>GPS lock →
ranked venue 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11457432" cy="25400"/>
          </a:xfrm>
          <a:prstGeom prst="rect">
            <a:avLst/>
          </a:prstGeom>
          <a:solidFill>
            <a:srgbClr val="333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931920"/>
            <a:ext cx="5394960" cy="251460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23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</a:rPr>
              <a:t>Baseline We Must Beat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26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</a:rPr>
              <a:t>Current baseline: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526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Sort by distance only — Google Maps default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</a:rPr>
              <a:t>Its flaw: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983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Ignores price &amp; rating entirely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</a:rPr>
              <a:t>Our advantage: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54406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K-Means fuses [price, rating, distance_km] into one 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8978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</a:rPr>
              <a:t>Success condition: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58978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Silhouette ≥ 0.45 on held-out 15% test split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931920"/>
            <a:ext cx="5394960" cy="2514600"/>
          </a:xfrm>
          <a:prstGeom prst="rect">
            <a:avLst/>
          </a:prstGeom>
          <a:solidFill>
            <a:srgbClr val="2A2208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4023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</a:rPr>
              <a:t>🚀  M3 — What We Build Next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526280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1.  Normalize [price, rating, distance_km] with StandardScaler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910328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2.  Train K-Means: sweep k ∈ {3…8} via Elbow + Silhouette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29437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3.  Evaluate on 15% test split — target Silhouette ≥ 0.45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678424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4.  Build scoring function: rank = f(cluster, price, rating, distance)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6062472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5.  Add Recommend tab in Streamlit: GPS → ranked list in &lt; 3 sec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